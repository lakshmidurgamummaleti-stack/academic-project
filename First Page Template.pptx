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6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81" r:id="rId18"/>
    <p:sldId id="282" r:id="rId19"/>
    <p:sldId id="272" r:id="rId20"/>
    <p:sldId id="289" r:id="rId21"/>
    <p:sldId id="290" r:id="rId22"/>
    <p:sldId id="291" r:id="rId23"/>
    <p:sldId id="292" r:id="rId24"/>
    <p:sldId id="293" r:id="rId25"/>
    <p:sldId id="294" r:id="rId26"/>
    <p:sldId id="295" r:id="rId27"/>
    <p:sldId id="273" r:id="rId28"/>
    <p:sldId id="274" r:id="rId29"/>
    <p:sldId id="296" r:id="rId30"/>
    <p:sldId id="297" r:id="rId31"/>
    <p:sldId id="298" r:id="rId32"/>
    <p:sldId id="299" r:id="rId33"/>
    <p:sldId id="278" r:id="rId34"/>
    <p:sldId id="279" r:id="rId35"/>
    <p:sldId id="275" r:id="rId36"/>
    <p:sldId id="276" r:id="rId37"/>
    <p:sldId id="277" r:id="rId38"/>
    <p:sldId id="280" r:id="rId39"/>
    <p:sldId id="300" r:id="rId40"/>
    <p:sldId id="284" r:id="rId41"/>
    <p:sldId id="301" r:id="rId42"/>
    <p:sldId id="286" r:id="rId43"/>
    <p:sldId id="287" r:id="rId44"/>
    <p:sldId id="28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44" autoAdjust="0"/>
    <p:restoredTop sz="94660"/>
  </p:normalViewPr>
  <p:slideViewPr>
    <p:cSldViewPr snapToGrid="0" showGuides="1">
      <p:cViewPr varScale="1">
        <p:scale>
          <a:sx n="85" d="100"/>
          <a:sy n="85" d="100"/>
        </p:scale>
        <p:origin x="78"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539713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86838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11463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21915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47258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94771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857676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983104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3529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210135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439492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88166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536482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200739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38322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57668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3A1C593-65D0-4073-BCC9-577B9352EA97}" type="datetimeFigureOut">
              <a:rPr lang="en-US" smtClean="0"/>
              <a:t>4/24/2026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732050147"/>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logo1-removebg-preview"/>
          <p:cNvPicPr>
            <a:picLocks noChangeAspect="1"/>
          </p:cNvPicPr>
          <p:nvPr/>
        </p:nvPicPr>
        <p:blipFill>
          <a:blip r:embed="rId2"/>
          <a:stretch>
            <a:fillRect/>
          </a:stretch>
        </p:blipFill>
        <p:spPr>
          <a:xfrm>
            <a:off x="5482590" y="1151890"/>
            <a:ext cx="1161415" cy="1477010"/>
          </a:xfrm>
          <a:prstGeom prst="rect">
            <a:avLst/>
          </a:prstGeom>
        </p:spPr>
      </p:pic>
      <p:sp>
        <p:nvSpPr>
          <p:cNvPr id="7" name="Text Box 6"/>
          <p:cNvSpPr txBox="1"/>
          <p:nvPr/>
        </p:nvSpPr>
        <p:spPr>
          <a:xfrm>
            <a:off x="-635" y="2754630"/>
            <a:ext cx="12192635" cy="1014730"/>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IN" altLang="en-US" sz="2000" dirty="0">
                <a:solidFill>
                  <a:srgbClr val="0070C0"/>
                </a:solidFill>
                <a:latin typeface="Arial" panose="020B0604020202020204" pitchFamily="34" charset="0"/>
                <a:ea typeface="Microsoft YaHei" panose="020B0503020204020204" charset="-122"/>
              </a:rPr>
              <a:t>Submitted to the </a:t>
            </a:r>
          </a:p>
          <a:p>
            <a:pPr algn="ctr"/>
            <a:r>
              <a:rPr lang="en-IN" altLang="en-US" sz="2000" dirty="0">
                <a:solidFill>
                  <a:srgbClr val="0070C0"/>
                </a:solidFill>
                <a:latin typeface="Arial" panose="020B0604020202020204" pitchFamily="34" charset="0"/>
                <a:ea typeface="Microsoft YaHei" panose="020B0503020204020204" charset="-122"/>
              </a:rPr>
              <a:t>Department of MCA</a:t>
            </a:r>
          </a:p>
          <a:p>
            <a:pPr algn="ctr"/>
            <a:r>
              <a:rPr lang="en-IN" altLang="en-US" sz="2000" dirty="0">
                <a:solidFill>
                  <a:srgbClr val="0070C0"/>
                </a:solidFill>
                <a:latin typeface="Arial" panose="020B0604020202020204" pitchFamily="34" charset="0"/>
                <a:ea typeface="Microsoft YaHei" panose="020B0503020204020204" charset="-122"/>
              </a:rPr>
              <a:t>for the partial fulfilment of the requirements of the award of MCA Degree</a:t>
            </a:r>
          </a:p>
        </p:txBody>
      </p:sp>
      <p:sp>
        <p:nvSpPr>
          <p:cNvPr id="8" name="Text Box 7"/>
          <p:cNvSpPr txBox="1"/>
          <p:nvPr/>
        </p:nvSpPr>
        <p:spPr>
          <a:xfrm>
            <a:off x="0" y="0"/>
            <a:ext cx="12192000" cy="583565"/>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IN" altLang="en-US" sz="3200" b="1" dirty="0">
                <a:solidFill>
                  <a:srgbClr val="0070C0"/>
                </a:solidFill>
                <a:latin typeface="Arial" panose="020B0604020202020204" pitchFamily="34" charset="0"/>
                <a:ea typeface="Microsoft YaHei" panose="020B0503020204020204" charset="-122"/>
              </a:rPr>
              <a:t>Presentation on the Project Work Entitled</a:t>
            </a:r>
          </a:p>
        </p:txBody>
      </p:sp>
      <p:sp>
        <p:nvSpPr>
          <p:cNvPr id="9" name="Text Box 8"/>
          <p:cNvSpPr txBox="1"/>
          <p:nvPr/>
        </p:nvSpPr>
        <p:spPr>
          <a:xfrm>
            <a:off x="47625" y="587375"/>
            <a:ext cx="12192000" cy="400110"/>
          </a:xfrm>
          <a:prstGeom prst="rect">
            <a:avLst/>
          </a:prstGeom>
        </p:spPr>
        <p:txBody>
          <a:bodyPr wrap="square">
            <a:spAutoFit/>
            <a:extLst>
              <a:ext uri="{4A0BC546-FE56-4ADE-93B0-CB8AF2F6F144}">
                <wpsdc:textFrameExt xmlns:wpsdc="http://www.wps.cn/officeDocument/2022/drawingmlCustomData" xmlns="" type="text"/>
              </a:ext>
            </a:extLst>
          </a:bodyPr>
          <a:lstStyle/>
          <a:p>
            <a:pPr algn="ctr"/>
            <a:r>
              <a:rPr lang="en-US" altLang="en-US" sz="2000" b="1" dirty="0" smtClean="0">
                <a:solidFill>
                  <a:srgbClr val="FF0000"/>
                </a:solidFill>
                <a:latin typeface="Arial" panose="020B0604020202020204" pitchFamily="34" charset="0"/>
                <a:ea typeface="Microsoft YaHei" panose="020B0503020204020204" charset="-122"/>
              </a:rPr>
              <a:t>FAKE ACCOUNT DETECTION USING ANN BASED MODEL IN MACHINE LEANING</a:t>
            </a:r>
            <a:endParaRPr lang="en-IN" altLang="en-US" sz="2000" b="1" dirty="0">
              <a:solidFill>
                <a:srgbClr val="FF0000"/>
              </a:solidFill>
              <a:latin typeface="Arial" panose="020B0604020202020204" pitchFamily="34" charset="0"/>
              <a:ea typeface="Microsoft YaHei" panose="020B0503020204020204" charset="-122"/>
            </a:endParaRPr>
          </a:p>
        </p:txBody>
      </p:sp>
      <p:sp>
        <p:nvSpPr>
          <p:cNvPr id="10" name="Text Box 9"/>
          <p:cNvSpPr txBox="1"/>
          <p:nvPr/>
        </p:nvSpPr>
        <p:spPr>
          <a:xfrm>
            <a:off x="539115" y="4376420"/>
            <a:ext cx="4302760" cy="2246769"/>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IN" altLang="en-US" sz="2000" b="1" dirty="0">
                <a:solidFill>
                  <a:srgbClr val="FF0000"/>
                </a:solidFill>
                <a:latin typeface="Arial" panose="020B0604020202020204" pitchFamily="34" charset="0"/>
                <a:ea typeface="Microsoft YaHei" panose="020B0503020204020204" charset="-122"/>
              </a:rPr>
              <a:t>Under the esteemed Guidance of</a:t>
            </a:r>
          </a:p>
          <a:p>
            <a:pPr algn="l"/>
            <a:endParaRPr lang="en-IN" altLang="en-US" sz="2000" b="1" dirty="0">
              <a:solidFill>
                <a:srgbClr val="0070C0"/>
              </a:solidFill>
              <a:latin typeface="Arial" panose="020B0604020202020204" pitchFamily="34" charset="0"/>
              <a:ea typeface="Microsoft YaHei" panose="020B0503020204020204" charset="-122"/>
            </a:endParaRPr>
          </a:p>
          <a:p>
            <a:pPr algn="l"/>
            <a:r>
              <a:rPr lang="en-US" altLang="en-US" sz="2000" b="1" dirty="0" smtClean="0">
                <a:solidFill>
                  <a:srgbClr val="0070C0"/>
                </a:solidFill>
                <a:latin typeface="Arial" panose="020B0604020202020204" pitchFamily="34" charset="0"/>
                <a:ea typeface="Microsoft YaHei" panose="020B0503020204020204" charset="-122"/>
              </a:rPr>
              <a:t>Ms. N. Pushpanjali</a:t>
            </a:r>
          </a:p>
          <a:p>
            <a:pPr algn="l"/>
            <a:r>
              <a:rPr lang="en-US" altLang="en-US" sz="2000" b="1" dirty="0" smtClean="0">
                <a:solidFill>
                  <a:srgbClr val="0070C0"/>
                </a:solidFill>
                <a:latin typeface="Arial" panose="020B0604020202020204" pitchFamily="34" charset="0"/>
                <a:ea typeface="Microsoft YaHei" panose="020B0503020204020204" charset="-122"/>
              </a:rPr>
              <a:t>		    MCA</a:t>
            </a:r>
          </a:p>
          <a:p>
            <a:pPr algn="l"/>
            <a:r>
              <a:rPr lang="en-US" altLang="en-US" sz="2000" b="1" dirty="0" smtClean="0">
                <a:solidFill>
                  <a:srgbClr val="0070C0"/>
                </a:solidFill>
                <a:latin typeface="Arial" panose="020B0604020202020204" pitchFamily="34" charset="0"/>
                <a:ea typeface="Microsoft YaHei" panose="020B0503020204020204" charset="-122"/>
              </a:rPr>
              <a:t>Assistant professor,</a:t>
            </a:r>
            <a:endParaRPr lang="en-IN" altLang="en-US" sz="2000" b="1" dirty="0">
              <a:solidFill>
                <a:srgbClr val="0070C0"/>
              </a:solidFill>
              <a:latin typeface="Arial" panose="020B0604020202020204" pitchFamily="34" charset="0"/>
              <a:ea typeface="Microsoft YaHei" panose="020B0503020204020204" charset="-122"/>
            </a:endParaRPr>
          </a:p>
          <a:p>
            <a:pPr algn="l"/>
            <a:r>
              <a:rPr lang="en-IN" altLang="en-US" sz="2000" b="1" dirty="0" smtClean="0">
                <a:solidFill>
                  <a:srgbClr val="0070C0"/>
                </a:solidFill>
                <a:latin typeface="Arial" panose="020B0604020202020204" pitchFamily="34" charset="0"/>
                <a:ea typeface="Microsoft YaHei" panose="020B0503020204020204" charset="-122"/>
              </a:rPr>
              <a:t>Department </a:t>
            </a:r>
            <a:r>
              <a:rPr lang="en-IN" altLang="en-US" sz="2000" b="1" dirty="0">
                <a:solidFill>
                  <a:srgbClr val="0070C0"/>
                </a:solidFill>
                <a:latin typeface="Arial" panose="020B0604020202020204" pitchFamily="34" charset="0"/>
                <a:ea typeface="Microsoft YaHei" panose="020B0503020204020204" charset="-122"/>
              </a:rPr>
              <a:t>of </a:t>
            </a:r>
            <a:r>
              <a:rPr lang="en-IN" altLang="en-US" sz="2000" b="1" dirty="0" smtClean="0">
                <a:solidFill>
                  <a:srgbClr val="0070C0"/>
                </a:solidFill>
                <a:latin typeface="Arial" panose="020B0604020202020204" pitchFamily="34" charset="0"/>
                <a:ea typeface="Microsoft YaHei" panose="020B0503020204020204" charset="-122"/>
              </a:rPr>
              <a:t>MCA, </a:t>
            </a:r>
            <a:endParaRPr lang="en-IN" altLang="en-US" sz="2000" b="1" dirty="0">
              <a:solidFill>
                <a:srgbClr val="0070C0"/>
              </a:solidFill>
              <a:latin typeface="Arial" panose="020B0604020202020204" pitchFamily="34" charset="0"/>
              <a:ea typeface="Microsoft YaHei" panose="020B0503020204020204" charset="-122"/>
            </a:endParaRPr>
          </a:p>
          <a:p>
            <a:pPr algn="l"/>
            <a:r>
              <a:rPr lang="en-IN" altLang="en-US" sz="2000" b="1" dirty="0">
                <a:solidFill>
                  <a:srgbClr val="0070C0"/>
                </a:solidFill>
                <a:latin typeface="Arial" panose="020B0604020202020204" pitchFamily="34" charset="0"/>
                <a:ea typeface="Microsoft YaHei" panose="020B0503020204020204" charset="-122"/>
              </a:rPr>
              <a:t>Bapatla Engineering College.</a:t>
            </a:r>
          </a:p>
        </p:txBody>
      </p:sp>
      <p:sp>
        <p:nvSpPr>
          <p:cNvPr id="11" name="Text Box 10"/>
          <p:cNvSpPr txBox="1"/>
          <p:nvPr/>
        </p:nvSpPr>
        <p:spPr>
          <a:xfrm>
            <a:off x="7550332" y="4376420"/>
            <a:ext cx="4284618" cy="2245360"/>
          </a:xfrm>
          <a:prstGeom prst="rect">
            <a:avLst/>
          </a:prstGeom>
        </p:spPr>
        <p:txBody>
          <a:bodyPr wrap="square">
            <a:spAutoFit/>
            <a:extLst>
              <a:ext uri="{4A0BC546-FE56-4ADE-93B0-CB8AF2F6F144}">
                <wpsdc:textFrameExt xmlns:wpsdc="http://www.wps.cn/officeDocument/2022/drawingmlCustomData" xmlns="" type="text"/>
              </a:ext>
            </a:extLst>
          </a:bodyPr>
          <a:lstStyle/>
          <a:p>
            <a:pPr algn="l"/>
            <a:r>
              <a:rPr lang="en-IN" altLang="en-US" sz="2000" b="1" dirty="0">
                <a:solidFill>
                  <a:srgbClr val="FF0000"/>
                </a:solidFill>
                <a:latin typeface="Arial" panose="020B0604020202020204" pitchFamily="34" charset="0"/>
                <a:ea typeface="Microsoft YaHei" panose="020B0503020204020204" charset="-122"/>
              </a:rPr>
              <a:t>Presentation By</a:t>
            </a:r>
          </a:p>
          <a:p>
            <a:pPr algn="l"/>
            <a:endParaRPr lang="en-IN" altLang="en-US" sz="2000" b="1" dirty="0">
              <a:solidFill>
                <a:srgbClr val="FF0000"/>
              </a:solidFill>
              <a:latin typeface="Arial" panose="020B0604020202020204" pitchFamily="34" charset="0"/>
              <a:ea typeface="Microsoft YaHei" panose="020B0503020204020204" charset="-122"/>
            </a:endParaRPr>
          </a:p>
          <a:p>
            <a:r>
              <a:rPr lang="en-IN" altLang="en-US" sz="2000" b="1" dirty="0" smtClean="0">
                <a:solidFill>
                  <a:srgbClr val="0070C0"/>
                </a:solidFill>
                <a:latin typeface="Arial" panose="020B0604020202020204" pitchFamily="34" charset="0"/>
                <a:ea typeface="Microsoft YaHei" panose="020B0503020204020204" charset="-122"/>
              </a:rPr>
              <a:t>Ms. M. Lakshmi Durga</a:t>
            </a:r>
            <a:endParaRPr lang="en-IN" altLang="en-US" sz="2000" b="1" dirty="0">
              <a:solidFill>
                <a:srgbClr val="0070C0"/>
              </a:solidFill>
              <a:latin typeface="Arial" panose="020B0604020202020204" pitchFamily="34" charset="0"/>
              <a:ea typeface="Microsoft YaHei" panose="020B0503020204020204" charset="-122"/>
            </a:endParaRPr>
          </a:p>
          <a:p>
            <a:pPr algn="l"/>
            <a:r>
              <a:rPr lang="en-IN" altLang="en-US" sz="2000" b="1" dirty="0" smtClean="0">
                <a:solidFill>
                  <a:srgbClr val="0070C0"/>
                </a:solidFill>
                <a:latin typeface="Arial" panose="020B0604020202020204" pitchFamily="34" charset="0"/>
                <a:ea typeface="Microsoft YaHei" panose="020B0503020204020204" charset="-122"/>
              </a:rPr>
              <a:t>Regd.No:Y25MC23049</a:t>
            </a:r>
            <a:endParaRPr lang="en-IN" altLang="en-US" sz="2000" b="1" dirty="0">
              <a:solidFill>
                <a:srgbClr val="0070C0"/>
              </a:solidFill>
              <a:latin typeface="Arial" panose="020B0604020202020204" pitchFamily="34" charset="0"/>
              <a:ea typeface="Microsoft YaHei" panose="020B0503020204020204" charset="-122"/>
            </a:endParaRPr>
          </a:p>
          <a:p>
            <a:pPr algn="l"/>
            <a:r>
              <a:rPr lang="en-IN" altLang="en-US" sz="2000" b="1" dirty="0" smtClean="0">
                <a:solidFill>
                  <a:srgbClr val="0070C0"/>
                </a:solidFill>
                <a:latin typeface="Arial" panose="020B0604020202020204" pitchFamily="34" charset="0"/>
                <a:ea typeface="Microsoft YaHei" panose="020B0503020204020204" charset="-122"/>
              </a:rPr>
              <a:t>Class : II MCA</a:t>
            </a:r>
            <a:endParaRPr lang="en-IN" altLang="en-US" sz="2000" b="1" dirty="0">
              <a:solidFill>
                <a:srgbClr val="0070C0"/>
              </a:solidFill>
              <a:latin typeface="Arial" panose="020B0604020202020204" pitchFamily="34" charset="0"/>
              <a:ea typeface="Microsoft YaHei" panose="020B0503020204020204" charset="-122"/>
            </a:endParaRPr>
          </a:p>
          <a:p>
            <a:pPr algn="l"/>
            <a:r>
              <a:rPr lang="en-IN" altLang="en-US" sz="2000" b="1" dirty="0">
                <a:solidFill>
                  <a:srgbClr val="0070C0"/>
                </a:solidFill>
                <a:latin typeface="Arial" panose="020B0604020202020204" pitchFamily="34" charset="0"/>
                <a:ea typeface="Microsoft YaHei" panose="020B0503020204020204" charset="-122"/>
              </a:rPr>
              <a:t>Semester: </a:t>
            </a:r>
            <a:r>
              <a:rPr lang="en-IN" altLang="en-US" sz="2000" b="1" dirty="0" smtClean="0">
                <a:solidFill>
                  <a:srgbClr val="0070C0"/>
                </a:solidFill>
                <a:latin typeface="Arial" panose="020B0604020202020204" pitchFamily="34" charset="0"/>
                <a:ea typeface="Microsoft YaHei" panose="020B0503020204020204" charset="-122"/>
              </a:rPr>
              <a:t>IV semester</a:t>
            </a:r>
            <a:endParaRPr lang="en-IN" altLang="en-US" sz="2000" b="1" dirty="0">
              <a:solidFill>
                <a:srgbClr val="0070C0"/>
              </a:solidFill>
              <a:latin typeface="Arial" panose="020B0604020202020204" pitchFamily="34" charset="0"/>
              <a:ea typeface="Microsoft YaHei" panose="020B0503020204020204" charset="-122"/>
            </a:endParaRPr>
          </a:p>
          <a:p>
            <a:pPr algn="l"/>
            <a:r>
              <a:rPr lang="en-IN" altLang="en-US" sz="2000" b="1" dirty="0">
                <a:solidFill>
                  <a:srgbClr val="0070C0"/>
                </a:solidFill>
                <a:latin typeface="Arial" panose="020B0604020202020204" pitchFamily="34" charset="0"/>
                <a:ea typeface="Microsoft YaHei" panose="020B0503020204020204" charset="-122"/>
                <a:sym typeface="+mn-ea"/>
              </a:rPr>
              <a:t>Bapatla Engineering College.</a:t>
            </a:r>
            <a:r>
              <a:rPr lang="en-IN" altLang="en-US" sz="2000" b="1" dirty="0">
                <a:solidFill>
                  <a:srgbClr val="0070C0"/>
                </a:solidFill>
                <a:latin typeface="Arial" panose="020B0604020202020204" pitchFamily="34" charset="0"/>
                <a:ea typeface="Microsoft YaHei" panose="020B0503020204020204" charset="-122"/>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
            <a:ext cx="12192635" cy="621030"/>
          </a:xfrm>
        </p:spPr>
        <p:txBody>
          <a:bodyPr>
            <a:normAutofit fontScale="90000"/>
          </a:bodyPr>
          <a:lstStyle/>
          <a:p>
            <a:pPr algn="ctr"/>
            <a:r>
              <a:rPr lang="en-IN" altLang="en-US" b="1" dirty="0">
                <a:solidFill>
                  <a:srgbClr val="FF0000"/>
                </a:solidFill>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557530" y="768985"/>
            <a:ext cx="11276965" cy="5760085"/>
          </a:xfrm>
        </p:spPr>
        <p:txBody>
          <a:bodyPr>
            <a:normAutofit/>
          </a:bodyPr>
          <a:lstStyle/>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1. Abstract.</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2. Existing System.</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3. </a:t>
            </a:r>
            <a:r>
              <a:rPr lang="en-IN" altLang="en-US" sz="2400" b="1" dirty="0" smtClean="0">
                <a:solidFill>
                  <a:schemeClr val="tx1"/>
                </a:solidFill>
                <a:latin typeface="Times New Roman" panose="02020603050405020304" pitchFamily="18" charset="0"/>
                <a:cs typeface="Times New Roman" panose="02020603050405020304" pitchFamily="18" charset="0"/>
              </a:rPr>
              <a:t>Drawbacks </a:t>
            </a:r>
            <a:r>
              <a:rPr lang="en-IN" altLang="en-US" sz="2400" b="1" dirty="0">
                <a:solidFill>
                  <a:schemeClr val="tx1"/>
                </a:solidFill>
                <a:latin typeface="Times New Roman" panose="02020603050405020304" pitchFamily="18" charset="0"/>
                <a:cs typeface="Times New Roman" panose="02020603050405020304" pitchFamily="18" charset="0"/>
              </a:rPr>
              <a:t>in the existing system.</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4. Proposed System.</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5. Advantages of the proposed system.</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6. Modules Description.</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7. Software Requirements.</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8. Hardware Requirements.</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9. Algorithms used in the project.</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10. About the Software.</a:t>
            </a:r>
          </a:p>
          <a:p>
            <a:pPr marL="0" indent="0">
              <a:buNone/>
            </a:pPr>
            <a:r>
              <a:rPr lang="en-IN" altLang="en-US" sz="2400" b="1" dirty="0">
                <a:solidFill>
                  <a:schemeClr val="tx1"/>
                </a:solidFill>
                <a:latin typeface="Times New Roman" panose="02020603050405020304" pitchFamily="18" charset="0"/>
                <a:cs typeface="Times New Roman" panose="02020603050405020304" pitchFamily="18" charset="0"/>
              </a:rPr>
              <a:t>11. Design of the Project</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370"/>
            <a:ext cx="10515600" cy="577850"/>
          </a:xfrm>
        </p:spPr>
        <p:txBody>
          <a:bodyPr>
            <a:normAutofit fontScale="90000"/>
          </a:bodyPr>
          <a:lstStyle/>
          <a:p>
            <a:pPr algn="ctr"/>
            <a:r>
              <a:rPr lang="en-IN" altLang="en-US" b="1" dirty="0">
                <a:solidFill>
                  <a:schemeClr val="accent5">
                    <a:lumMod val="75000"/>
                  </a:schemeClr>
                </a:solidFill>
                <a:latin typeface="Times New Roman" panose="02020603050405020304" pitchFamily="18" charset="0"/>
                <a:cs typeface="Times New Roman" panose="02020603050405020304" pitchFamily="18" charset="0"/>
              </a:rPr>
              <a:t>Contents(Contd..)</a:t>
            </a:r>
          </a:p>
        </p:txBody>
      </p:sp>
      <p:sp>
        <p:nvSpPr>
          <p:cNvPr id="4" name="Content Placeholder 2"/>
          <p:cNvSpPr>
            <a:spLocks noGrp="1"/>
          </p:cNvSpPr>
          <p:nvPr/>
        </p:nvSpPr>
        <p:spPr>
          <a:xfrm>
            <a:off x="561975" y="774700"/>
            <a:ext cx="11186795" cy="45078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altLang="en-US" sz="2400" b="1" dirty="0">
                <a:latin typeface="Times New Roman" panose="02020603050405020304" pitchFamily="18" charset="0"/>
                <a:cs typeface="Times New Roman" panose="02020603050405020304" pitchFamily="18" charset="0"/>
              </a:rPr>
              <a:t>12. Implementation Details.</a:t>
            </a:r>
          </a:p>
          <a:p>
            <a:pPr marL="0" indent="0">
              <a:buNone/>
            </a:pPr>
            <a:r>
              <a:rPr lang="en-IN" altLang="en-US" sz="2400" b="1" dirty="0">
                <a:latin typeface="Times New Roman" panose="02020603050405020304" pitchFamily="18" charset="0"/>
                <a:cs typeface="Times New Roman" panose="02020603050405020304" pitchFamily="18" charset="0"/>
              </a:rPr>
              <a:t>13. Sample Code.</a:t>
            </a:r>
          </a:p>
          <a:p>
            <a:pPr marL="0" indent="0">
              <a:buNone/>
            </a:pPr>
            <a:r>
              <a:rPr lang="en-IN" altLang="en-US" sz="2400" b="1" dirty="0">
                <a:latin typeface="Times New Roman" panose="02020603050405020304" pitchFamily="18" charset="0"/>
                <a:cs typeface="Times New Roman" panose="02020603050405020304" pitchFamily="18" charset="0"/>
              </a:rPr>
              <a:t>14. Testing </a:t>
            </a:r>
            <a:r>
              <a:rPr lang="en-IN" altLang="en-US" sz="2400" b="1" dirty="0" err="1">
                <a:latin typeface="Times New Roman" panose="02020603050405020304" pitchFamily="18" charset="0"/>
                <a:cs typeface="Times New Roman" panose="02020603050405020304" pitchFamily="18" charset="0"/>
              </a:rPr>
              <a:t>Stratagies</a:t>
            </a:r>
            <a:r>
              <a:rPr lang="en-IN" altLang="en-US" sz="2400" b="1" dirty="0">
                <a:latin typeface="Times New Roman" panose="02020603050405020304" pitchFamily="18" charset="0"/>
                <a:cs typeface="Times New Roman" panose="02020603050405020304" pitchFamily="18" charset="0"/>
              </a:rPr>
              <a:t> Used.</a:t>
            </a:r>
          </a:p>
          <a:p>
            <a:pPr marL="0" indent="0">
              <a:buNone/>
            </a:pPr>
            <a:r>
              <a:rPr lang="en-IN" altLang="en-US" sz="2400" b="1" dirty="0">
                <a:latin typeface="Times New Roman" panose="02020603050405020304" pitchFamily="18" charset="0"/>
                <a:cs typeface="Times New Roman" panose="02020603050405020304" pitchFamily="18" charset="0"/>
              </a:rPr>
              <a:t>15. Sample test cases.</a:t>
            </a:r>
          </a:p>
          <a:p>
            <a:pPr marL="0" indent="0">
              <a:buNone/>
            </a:pPr>
            <a:r>
              <a:rPr lang="en-IN" altLang="en-US" sz="2400" b="1" dirty="0">
                <a:latin typeface="Times New Roman" panose="02020603050405020304" pitchFamily="18" charset="0"/>
                <a:cs typeface="Times New Roman" panose="02020603050405020304" pitchFamily="18" charset="0"/>
              </a:rPr>
              <a:t>16. Output Screens.</a:t>
            </a:r>
          </a:p>
          <a:p>
            <a:pPr marL="0" indent="0">
              <a:buNone/>
            </a:pPr>
            <a:r>
              <a:rPr lang="en-IN" altLang="en-US" sz="2400" b="1" dirty="0">
                <a:latin typeface="Times New Roman" panose="02020603050405020304" pitchFamily="18" charset="0"/>
                <a:cs typeface="Times New Roman" panose="02020603050405020304" pitchFamily="18" charset="0"/>
              </a:rPr>
              <a:t>17. Conclusion and Future work.</a:t>
            </a:r>
          </a:p>
          <a:p>
            <a:pPr marL="0" indent="0">
              <a:buNone/>
            </a:pPr>
            <a:endParaRPr lang="en-IN" alt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396" y="609600"/>
            <a:ext cx="8596668" cy="695093"/>
          </a:xfrm>
        </p:spPr>
        <p:txBody>
          <a:bodyPr>
            <a:normAutofit/>
          </a:bodyPr>
          <a:lstStyle/>
          <a:p>
            <a:r>
              <a:rPr lang="en-US" sz="2800" dirty="0" smtClean="0">
                <a:latin typeface="Times New Roman" panose="02020603050405020304" pitchFamily="18" charset="0"/>
                <a:cs typeface="Times New Roman" panose="02020603050405020304" pitchFamily="18" charset="0"/>
              </a:rPr>
              <a:t>Abstract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0396" y="1436689"/>
            <a:ext cx="8596668" cy="3880773"/>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In today’s digital world, many fake accounts are created on online platforms. These fake accounts cause problems like cybercrime, misinformation, and online harassment. To solve this problem, this project develops a fake account detection system using machine learning. The system collects user data and prepares it for analysis. Important features are selected from the data. Machine learning algorithms are used to train the model. The model learns how to identify real and fake accounts. The system checks user activities continuously. When a fake account is found, administrators are alerted. This helps in taking quick and legal action. The accuracy of the system depends on good quality and enough data. The system improves over time to detect new fake account techniques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12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2790"/>
          </a:xfrm>
        </p:spPr>
        <p:txBody>
          <a:bodyPr>
            <a:normAutofit/>
          </a:bodyPr>
          <a:lstStyle/>
          <a:p>
            <a:r>
              <a:rPr lang="en-US" sz="2800" dirty="0" smtClean="0">
                <a:latin typeface="Times New Roman" panose="02020603050405020304" pitchFamily="18" charset="0"/>
                <a:cs typeface="Times New Roman" panose="02020603050405020304" pitchFamily="18" charset="0"/>
              </a:rPr>
              <a:t>Existing System</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77334" y="1610840"/>
            <a:ext cx="9759889" cy="3463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1. Existing </a:t>
            </a:r>
            <a:r>
              <a:rPr lang="en-IN" dirty="0">
                <a:latin typeface="Times New Roman" panose="02020603050405020304" pitchFamily="18" charset="0"/>
                <a:cs typeface="Times New Roman" panose="02020603050405020304" pitchFamily="18" charset="0"/>
              </a:rPr>
              <a:t>platforms mainly rely on manual verification and rule-based systems to detect fake accounts.</a:t>
            </a: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2.Traditional </a:t>
            </a:r>
            <a:r>
              <a:rPr lang="en-IN" dirty="0">
                <a:latin typeface="Times New Roman" panose="02020603050405020304" pitchFamily="18" charset="0"/>
                <a:cs typeface="Times New Roman" panose="02020603050405020304" pitchFamily="18" charset="0"/>
              </a:rPr>
              <a:t>systems use static thresholds (e.g., number of posts, followers) for account validation.</a:t>
            </a: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3. Fake </a:t>
            </a:r>
            <a:r>
              <a:rPr lang="en-IN" dirty="0">
                <a:latin typeface="Times New Roman" panose="02020603050405020304" pitchFamily="18" charset="0"/>
                <a:cs typeface="Times New Roman" panose="02020603050405020304" pitchFamily="18" charset="0"/>
              </a:rPr>
              <a:t>account detection is often performed after user complaints, not proactively.</a:t>
            </a: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4. Limited </a:t>
            </a:r>
            <a:r>
              <a:rPr lang="en-IN" dirty="0">
                <a:latin typeface="Times New Roman" panose="02020603050405020304" pitchFamily="18" charset="0"/>
                <a:cs typeface="Times New Roman" panose="02020603050405020304" pitchFamily="18" charset="0"/>
              </a:rPr>
              <a:t>use of advanced machine learning techniques for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analysis.</a:t>
            </a:r>
          </a:p>
          <a:p>
            <a:pPr marL="0" indent="0" algn="just">
              <a:lnSpc>
                <a:spcPct val="150000"/>
              </a:lnSpc>
              <a:buNone/>
            </a:pPr>
            <a:r>
              <a:rPr lang="en-IN" dirty="0" smtClean="0">
                <a:latin typeface="Times New Roman" panose="02020603050405020304" pitchFamily="18" charset="0"/>
                <a:cs typeface="Times New Roman" panose="02020603050405020304" pitchFamily="18" charset="0"/>
              </a:rPr>
              <a:t>5. Existing </a:t>
            </a:r>
            <a:r>
              <a:rPr lang="en-IN" dirty="0">
                <a:latin typeface="Times New Roman" panose="02020603050405020304" pitchFamily="18" charset="0"/>
                <a:cs typeface="Times New Roman" panose="02020603050405020304" pitchFamily="18" charset="0"/>
              </a:rPr>
              <a:t>solutions lack continuous monitoring and adaptive learning.</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6.  Attacks are often done through social media, emails, or links. </a:t>
            </a:r>
          </a:p>
          <a:p>
            <a:pPr marL="0" indent="0" algn="just" defTabSz="914400" eaLnBrk="0" fontAlgn="base" hangingPunct="0">
              <a:lnSpc>
                <a:spcPct val="150000"/>
              </a:lnSpc>
              <a:spcBef>
                <a:spcPct val="0"/>
              </a:spcBef>
              <a:spcAft>
                <a:spcPct val="0"/>
              </a:spcAft>
              <a:buClrTx/>
              <a:buSzTx/>
              <a:buNone/>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7.  They also fail to detect harmful links and complex fake behaviors</a:t>
            </a:r>
            <a:r>
              <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884201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28907"/>
          </a:xfrm>
        </p:spPr>
        <p:txBody>
          <a:bodyPr>
            <a:normAutofit/>
          </a:bodyPr>
          <a:lstStyle/>
          <a:p>
            <a:r>
              <a:rPr lang="en-US" sz="2800" dirty="0" smtClean="0">
                <a:latin typeface="Times New Roman" panose="02020603050405020304" pitchFamily="18" charset="0"/>
                <a:cs typeface="Times New Roman" panose="02020603050405020304" pitchFamily="18" charset="0"/>
              </a:rPr>
              <a:t>Drawbacks in the Existing System</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77334" y="1341269"/>
            <a:ext cx="6992299" cy="2397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algn="just" defTabSz="914400" eaLnBrk="0" fontAlgn="base" hangingPunct="0">
              <a:lnSpc>
                <a:spcPct val="150000"/>
              </a:lnSpc>
              <a:spcBef>
                <a:spcPct val="0"/>
              </a:spcBef>
              <a:spcAft>
                <a:spcPct val="0"/>
              </a:spcAft>
              <a:buClrTx/>
              <a:buSzTx/>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system has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low accuracy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detecting fake accounts. </a:t>
            </a:r>
          </a:p>
          <a:p>
            <a:pPr algn="just" defTabSz="914400" eaLnBrk="0" fontAlgn="base" hangingPunct="0">
              <a:lnSpc>
                <a:spcPct val="150000"/>
              </a:lnSpc>
              <a:spcBef>
                <a:spcPct val="0"/>
              </a:spcBef>
              <a:spcAft>
                <a:spcPct val="0"/>
              </a:spcAft>
              <a:buClrTx/>
              <a:buSzTx/>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Fake accounts can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manipulate their information</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to avoid detection</a:t>
            </a:r>
          </a:p>
          <a:p>
            <a:pPr algn="just" defTabSz="914400" eaLnBrk="0" fontAlgn="base" hangingPunct="0">
              <a:lnSpc>
                <a:spcPct val="150000"/>
              </a:lnSpc>
              <a:spcBef>
                <a:spcPct val="0"/>
              </a:spcBef>
              <a:spcAft>
                <a:spcPct val="0"/>
              </a:spcAft>
              <a:buClrTx/>
              <a:buSzTx/>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system relies on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traditional methods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which are outdated. </a:t>
            </a:r>
          </a:p>
          <a:p>
            <a:pPr algn="just" defTabSz="914400" eaLnBrk="0" fontAlgn="base" hangingPunct="0">
              <a:lnSpc>
                <a:spcPct val="150000"/>
              </a:lnSpc>
              <a:spcBef>
                <a:spcPct val="0"/>
              </a:spcBef>
              <a:spcAft>
                <a:spcPct val="0"/>
              </a:spcAft>
              <a:buClrTx/>
              <a:buSzTx/>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It cannot properly analyze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behavior and interactions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algn="just" defTabSz="914400" eaLnBrk="0" fontAlgn="base" hangingPunct="0">
              <a:lnSpc>
                <a:spcPct val="150000"/>
              </a:lnSpc>
              <a:spcBef>
                <a:spcPct val="0"/>
              </a:spcBef>
              <a:spcAft>
                <a:spcPct val="0"/>
              </a:spcAft>
              <a:buClrTx/>
              <a:buSzTx/>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Sometimes it gives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wrong results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(false positives or false negatives). </a:t>
            </a:r>
          </a:p>
        </p:txBody>
      </p:sp>
    </p:spTree>
    <p:extLst>
      <p:ext uri="{BB962C8B-B14F-4D97-AF65-F5344CB8AC3E}">
        <p14:creationId xmlns:p14="http://schemas.microsoft.com/office/powerpoint/2010/main" val="4914481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4302"/>
          </a:xfrm>
        </p:spPr>
        <p:txBody>
          <a:bodyPr>
            <a:normAutofit/>
          </a:bodyPr>
          <a:lstStyle/>
          <a:p>
            <a:r>
              <a:rPr lang="en-US" sz="2800" dirty="0" smtClean="0">
                <a:latin typeface="Times New Roman" panose="02020603050405020304" pitchFamily="18" charset="0"/>
                <a:cs typeface="Times New Roman" panose="02020603050405020304" pitchFamily="18" charset="0"/>
              </a:rPr>
              <a:t>Proposed System</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376888" y="1675374"/>
            <a:ext cx="10426095" cy="304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1. Proposes </a:t>
            </a:r>
            <a:r>
              <a:rPr lang="en-IN" dirty="0">
                <a:latin typeface="Times New Roman" panose="02020603050405020304" pitchFamily="18" charset="0"/>
                <a:cs typeface="Times New Roman" panose="02020603050405020304" pitchFamily="18" charset="0"/>
              </a:rPr>
              <a:t>a machine learning–based fake account detection system.</a:t>
            </a: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2. Collects </a:t>
            </a:r>
            <a:r>
              <a:rPr lang="en-IN" dirty="0">
                <a:latin typeface="Times New Roman" panose="02020603050405020304" pitchFamily="18" charset="0"/>
                <a:cs typeface="Times New Roman" panose="02020603050405020304" pitchFamily="18" charset="0"/>
              </a:rPr>
              <a:t>and </a:t>
            </a:r>
            <a:r>
              <a:rPr lang="en-IN" dirty="0" err="1">
                <a:latin typeface="Times New Roman" panose="02020603050405020304" pitchFamily="18" charset="0"/>
                <a:cs typeface="Times New Roman" panose="02020603050405020304" pitchFamily="18" charset="0"/>
              </a:rPr>
              <a:t>preprocesses</a:t>
            </a:r>
            <a:r>
              <a:rPr lang="en-IN" dirty="0">
                <a:latin typeface="Times New Roman" panose="02020603050405020304" pitchFamily="18" charset="0"/>
                <a:cs typeface="Times New Roman" panose="02020603050405020304" pitchFamily="18" charset="0"/>
              </a:rPr>
              <a:t> user profile, activity, and interaction data.</a:t>
            </a: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3. Performs </a:t>
            </a:r>
            <a:r>
              <a:rPr lang="en-IN" dirty="0">
                <a:latin typeface="Times New Roman" panose="02020603050405020304" pitchFamily="18" charset="0"/>
                <a:cs typeface="Times New Roman" panose="02020603050405020304" pitchFamily="18" charset="0"/>
              </a:rPr>
              <a:t>feature engineering to extract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and statistical patterns.</a:t>
            </a: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4. Trains </a:t>
            </a:r>
            <a:r>
              <a:rPr lang="en-IN" dirty="0">
                <a:latin typeface="Times New Roman" panose="02020603050405020304" pitchFamily="18" charset="0"/>
                <a:cs typeface="Times New Roman" panose="02020603050405020304" pitchFamily="18" charset="0"/>
              </a:rPr>
              <a:t>ML classifiers (e.g., Random Forest, SVM, Logistic Regression) to distinguish real and fake accounts.</a:t>
            </a:r>
            <a:endParaRPr lang="en-US" dirty="0">
              <a:latin typeface="Times New Roman" panose="02020603050405020304" pitchFamily="18" charset="0"/>
              <a:cs typeface="Times New Roman" panose="02020603050405020304" pitchFamily="18" charset="0"/>
            </a:endParaRPr>
          </a:p>
          <a:p>
            <a:pPr marL="0" lvl="0" indent="0" algn="just">
              <a:lnSpc>
                <a:spcPct val="150000"/>
              </a:lnSpc>
              <a:buNone/>
            </a:pPr>
            <a:r>
              <a:rPr lang="en-IN" dirty="0" smtClean="0">
                <a:latin typeface="Times New Roman" panose="02020603050405020304" pitchFamily="18" charset="0"/>
                <a:cs typeface="Times New Roman" panose="02020603050405020304" pitchFamily="18" charset="0"/>
              </a:rPr>
              <a:t>5. Deploys </a:t>
            </a:r>
            <a:r>
              <a:rPr lang="en-IN" dirty="0">
                <a:latin typeface="Times New Roman" panose="02020603050405020304" pitchFamily="18" charset="0"/>
                <a:cs typeface="Times New Roman" panose="02020603050405020304" pitchFamily="18" charset="0"/>
              </a:rPr>
              <a:t>a real-time monitoring system that alerts administrators upon detection.</a:t>
            </a:r>
            <a:endParaRPr 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6. Finally, the system gives a result showing whether the account is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genuine or fake</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1332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83941"/>
          </a:xfrm>
        </p:spPr>
        <p:txBody>
          <a:bodyPr>
            <a:normAutofit/>
          </a:bodyPr>
          <a:lstStyle/>
          <a:p>
            <a:r>
              <a:rPr lang="en-US" sz="2800" dirty="0" smtClean="0">
                <a:latin typeface="Times New Roman" panose="02020603050405020304" pitchFamily="18" charset="0"/>
                <a:cs typeface="Times New Roman" panose="02020603050405020304" pitchFamily="18" charset="0"/>
              </a:rPr>
              <a:t>Advantages of the proposed syst</a:t>
            </a:r>
            <a:r>
              <a:rPr lang="en-US" sz="2800" dirty="0" smtClean="0"/>
              <a:t>em</a:t>
            </a:r>
            <a:endParaRPr lang="en-IN" sz="2800" dirty="0"/>
          </a:p>
        </p:txBody>
      </p:sp>
      <p:sp>
        <p:nvSpPr>
          <p:cNvPr id="4" name="Rectangle 1"/>
          <p:cNvSpPr>
            <a:spLocks noGrp="1" noChangeArrowheads="1"/>
          </p:cNvSpPr>
          <p:nvPr>
            <p:ph idx="1"/>
          </p:nvPr>
        </p:nvSpPr>
        <p:spPr bwMode="auto">
          <a:xfrm>
            <a:off x="854988" y="1142892"/>
            <a:ext cx="7536037"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system provides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higher accuracy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 detecting fake accounts.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AI and machine learning techniques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which are more advanced than</a:t>
            </a:r>
          </a:p>
          <a:p>
            <a:pPr marL="0" marR="0" lvl="0" indent="0" algn="just" defTabSz="914400" rtl="0" eaLnBrk="0" fontAlgn="base" latinLnBrk="0" hangingPunct="0">
              <a:lnSpc>
                <a:spcPct val="15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traditional methods.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analyzes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behavior and posts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making detection more reliable.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multiple algorithms together</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which improves performance</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741246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6966"/>
          </a:xfrm>
        </p:spPr>
        <p:txBody>
          <a:bodyPr>
            <a:normAutofit/>
          </a:bodyPr>
          <a:lstStyle/>
          <a:p>
            <a:r>
              <a:rPr lang="en-US" sz="2800" dirty="0" smtClean="0">
                <a:latin typeface="Times New Roman" panose="02020603050405020304" pitchFamily="18" charset="0"/>
                <a:cs typeface="Times New Roman" panose="02020603050405020304" pitchFamily="18" charset="0"/>
              </a:rPr>
              <a:t>Module Descriptio</a:t>
            </a:r>
            <a:r>
              <a:rPr lang="en-US" sz="2800" dirty="0" smtClean="0"/>
              <a:t>n</a:t>
            </a:r>
            <a:endParaRPr lang="en-IN" sz="2800" dirty="0"/>
          </a:p>
        </p:txBody>
      </p:sp>
      <p:sp>
        <p:nvSpPr>
          <p:cNvPr id="3" name="Content Placeholder 2"/>
          <p:cNvSpPr>
            <a:spLocks noGrp="1"/>
          </p:cNvSpPr>
          <p:nvPr>
            <p:ph idx="1"/>
          </p:nvPr>
        </p:nvSpPr>
        <p:spPr>
          <a:xfrm>
            <a:off x="677334" y="1286970"/>
            <a:ext cx="8596668" cy="4734689"/>
          </a:xfrm>
        </p:spPr>
        <p:txBody>
          <a:bodyPr>
            <a:no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1. Admin Module</a:t>
            </a:r>
          </a:p>
          <a:p>
            <a:pPr marL="0" indent="0" algn="just">
              <a:lnSpc>
                <a:spcPct val="150000"/>
              </a:lnSpc>
              <a:buNone/>
            </a:pPr>
            <a:r>
              <a:rPr lang="en-US" sz="1600" dirty="0" smtClean="0">
                <a:latin typeface="Times New Roman" panose="02020603050405020304" pitchFamily="18" charset="0"/>
                <a:cs typeface="Times New Roman" panose="02020603050405020304" pitchFamily="18" charset="0"/>
              </a:rPr>
              <a:t>          Admin </a:t>
            </a:r>
            <a:r>
              <a:rPr lang="en-US" sz="1600" dirty="0">
                <a:latin typeface="Times New Roman" panose="02020603050405020304" pitchFamily="18" charset="0"/>
                <a:cs typeface="Times New Roman" panose="02020603050405020304" pitchFamily="18" charset="0"/>
              </a:rPr>
              <a:t>logs into the system and manages the dataset and process. </a:t>
            </a:r>
            <a:endParaRPr lang="en-US" sz="1600"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Admin </a:t>
            </a:r>
            <a:r>
              <a:rPr lang="en-US" sz="1600" dirty="0">
                <a:latin typeface="Times New Roman" panose="02020603050405020304" pitchFamily="18" charset="0"/>
                <a:cs typeface="Times New Roman" panose="02020603050405020304" pitchFamily="18" charset="0"/>
              </a:rPr>
              <a:t>applies different algorithms and monitors prediction results. </a:t>
            </a:r>
          </a:p>
          <a:p>
            <a:pPr algn="just">
              <a:lnSpc>
                <a:spcPct val="150000"/>
              </a:lnSpc>
            </a:pPr>
            <a:r>
              <a:rPr lang="en-US" sz="2200" b="1" dirty="0">
                <a:latin typeface="Times New Roman" panose="02020603050405020304" pitchFamily="18" charset="0"/>
                <a:cs typeface="Times New Roman" panose="02020603050405020304" pitchFamily="18" charset="0"/>
              </a:rPr>
              <a:t>2. ML Model Module</a:t>
            </a:r>
          </a:p>
          <a:p>
            <a:pPr marL="0" indent="0" algn="just">
              <a:lnSpc>
                <a:spcPct val="150000"/>
              </a:lnSpc>
              <a:buNone/>
            </a:pPr>
            <a:r>
              <a:rPr lang="en-US" sz="1600" dirty="0" smtClean="0">
                <a:latin typeface="Times New Roman" panose="02020603050405020304" pitchFamily="18" charset="0"/>
                <a:cs typeface="Times New Roman" panose="02020603050405020304" pitchFamily="18" charset="0"/>
              </a:rPr>
              <a:t>         The </a:t>
            </a:r>
            <a:r>
              <a:rPr lang="en-US" sz="1600" dirty="0">
                <a:latin typeface="Times New Roman" panose="02020603050405020304" pitchFamily="18" charset="0"/>
                <a:cs typeface="Times New Roman" panose="02020603050405020304" pitchFamily="18" charset="0"/>
              </a:rPr>
              <a:t>model is trained and tested using user dataset information. </a:t>
            </a:r>
          </a:p>
          <a:p>
            <a:pPr marL="0" indent="0" algn="just">
              <a:lnSpc>
                <a:spcPct val="150000"/>
              </a:lnSpc>
              <a:buNone/>
            </a:pPr>
            <a:r>
              <a:rPr lang="en-US" sz="1600" dirty="0" smtClean="0">
                <a:latin typeface="Times New Roman" panose="02020603050405020304" pitchFamily="18" charset="0"/>
                <a:cs typeface="Times New Roman" panose="02020603050405020304" pitchFamily="18" charset="0"/>
              </a:rPr>
              <a:t>          It </a:t>
            </a:r>
            <a:r>
              <a:rPr lang="en-US" sz="1600" dirty="0">
                <a:latin typeface="Times New Roman" panose="02020603050405020304" pitchFamily="18" charset="0"/>
                <a:cs typeface="Times New Roman" panose="02020603050405020304" pitchFamily="18" charset="0"/>
              </a:rPr>
              <a:t>identifies whether a user is a malicious bot or a normal user. </a:t>
            </a:r>
          </a:p>
          <a:p>
            <a:pPr algn="just">
              <a:lnSpc>
                <a:spcPct val="150000"/>
              </a:lnSpc>
            </a:pPr>
            <a:r>
              <a:rPr lang="en-US" sz="2200" b="1" dirty="0">
                <a:latin typeface="Times New Roman" panose="02020603050405020304" pitchFamily="18" charset="0"/>
                <a:cs typeface="Times New Roman" panose="02020603050405020304" pitchFamily="18" charset="0"/>
              </a:rPr>
              <a:t>3. K-Nearest Neighbor (KNN) Module</a:t>
            </a:r>
          </a:p>
          <a:p>
            <a:pPr marL="0" indent="0" algn="just">
              <a:lnSpc>
                <a:spcPct val="150000"/>
              </a:lnSpc>
              <a:buNone/>
            </a:pPr>
            <a:r>
              <a:rPr lang="en-US" sz="1600" dirty="0" smtClean="0">
                <a:latin typeface="Times New Roman" panose="02020603050405020304" pitchFamily="18" charset="0"/>
                <a:cs typeface="Times New Roman" panose="02020603050405020304" pitchFamily="18" charset="0"/>
              </a:rPr>
              <a:t>         It </a:t>
            </a:r>
            <a:r>
              <a:rPr lang="en-US" sz="1600" dirty="0">
                <a:latin typeface="Times New Roman" panose="02020603050405020304" pitchFamily="18" charset="0"/>
                <a:cs typeface="Times New Roman" panose="02020603050405020304" pitchFamily="18" charset="0"/>
              </a:rPr>
              <a:t>classifies data based on nearest neighbor values from the dataset. </a:t>
            </a:r>
          </a:p>
          <a:p>
            <a:pPr marL="0" indent="0" algn="just">
              <a:lnSpc>
                <a:spcPct val="150000"/>
              </a:lnSpc>
              <a:buNone/>
            </a:pPr>
            <a:r>
              <a:rPr lang="en-US" sz="1600" dirty="0" smtClean="0">
                <a:latin typeface="Times New Roman" panose="02020603050405020304" pitchFamily="18" charset="0"/>
                <a:cs typeface="Times New Roman" panose="02020603050405020304" pitchFamily="18" charset="0"/>
              </a:rPr>
              <a:t>         The </a:t>
            </a:r>
            <a:r>
              <a:rPr lang="en-US" sz="1600" dirty="0">
                <a:latin typeface="Times New Roman" panose="02020603050405020304" pitchFamily="18" charset="0"/>
                <a:cs typeface="Times New Roman" panose="02020603050405020304" pitchFamily="18" charset="0"/>
              </a:rPr>
              <a:t>output is decided by the majority class among nearest data point</a:t>
            </a:r>
            <a:r>
              <a:rPr lang="en-US" sz="1600" dirty="0"/>
              <a:t>s. </a:t>
            </a:r>
          </a:p>
        </p:txBody>
      </p:sp>
    </p:spTree>
    <p:extLst>
      <p:ext uri="{BB962C8B-B14F-4D97-AF65-F5344CB8AC3E}">
        <p14:creationId xmlns:p14="http://schemas.microsoft.com/office/powerpoint/2010/main" val="3564783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6522" y="854303"/>
            <a:ext cx="8596668" cy="4867228"/>
          </a:xfrm>
        </p:spPr>
        <p:txBody>
          <a:bodyPr>
            <a:normAutofit fontScale="92500" lnSpcReduction="20000"/>
          </a:bodyPr>
          <a:lstStyle/>
          <a:p>
            <a:pPr algn="just">
              <a:lnSpc>
                <a:spcPct val="170000"/>
              </a:lnSpc>
            </a:pPr>
            <a:r>
              <a:rPr lang="en-US" sz="2200" b="1" dirty="0">
                <a:latin typeface="Times New Roman" panose="02020603050405020304" pitchFamily="18" charset="0"/>
                <a:cs typeface="Times New Roman" panose="02020603050405020304" pitchFamily="18" charset="0"/>
              </a:rPr>
              <a:t>4. Gaussian Naïve Bayes Module</a:t>
            </a:r>
          </a:p>
          <a:p>
            <a:pPr marL="0" indent="0" algn="just">
              <a:lnSpc>
                <a:spcPct val="170000"/>
              </a:lnSpc>
              <a:buNone/>
            </a:pPr>
            <a:r>
              <a:rPr lang="en-US" sz="1700" dirty="0" smtClean="0">
                <a:latin typeface="Times New Roman" panose="02020603050405020304" pitchFamily="18" charset="0"/>
                <a:cs typeface="Times New Roman" panose="02020603050405020304" pitchFamily="18" charset="0"/>
              </a:rPr>
              <a:t>          It </a:t>
            </a:r>
            <a:r>
              <a:rPr lang="en-US" sz="1700" dirty="0">
                <a:latin typeface="Times New Roman" panose="02020603050405020304" pitchFamily="18" charset="0"/>
                <a:cs typeface="Times New Roman" panose="02020603050405020304" pitchFamily="18" charset="0"/>
              </a:rPr>
              <a:t>uses probability distribution to classify the data. </a:t>
            </a:r>
          </a:p>
          <a:p>
            <a:pPr marL="0" indent="0" algn="just">
              <a:lnSpc>
                <a:spcPct val="170000"/>
              </a:lnSpc>
              <a:buNone/>
            </a:pPr>
            <a:r>
              <a:rPr lang="en-US" sz="1700" dirty="0" smtClean="0">
                <a:latin typeface="Times New Roman" panose="02020603050405020304" pitchFamily="18" charset="0"/>
                <a:cs typeface="Times New Roman" panose="02020603050405020304" pitchFamily="18" charset="0"/>
              </a:rPr>
              <a:t>          It </a:t>
            </a:r>
            <a:r>
              <a:rPr lang="en-US" sz="1700" dirty="0">
                <a:latin typeface="Times New Roman" panose="02020603050405020304" pitchFamily="18" charset="0"/>
                <a:cs typeface="Times New Roman" panose="02020603050405020304" pitchFamily="18" charset="0"/>
              </a:rPr>
              <a:t>assumes features are independent and follows normal distribution. </a:t>
            </a:r>
          </a:p>
          <a:p>
            <a:pPr algn="just">
              <a:lnSpc>
                <a:spcPct val="170000"/>
              </a:lnSpc>
            </a:pPr>
            <a:r>
              <a:rPr lang="en-US" sz="2400" b="1" dirty="0">
                <a:latin typeface="Times New Roman" panose="02020603050405020304" pitchFamily="18" charset="0"/>
                <a:cs typeface="Times New Roman" panose="02020603050405020304" pitchFamily="18" charset="0"/>
              </a:rPr>
              <a:t>5. Logistic Regression Module</a:t>
            </a:r>
          </a:p>
          <a:p>
            <a:pPr marL="0" indent="0" algn="just">
              <a:lnSpc>
                <a:spcPct val="170000"/>
              </a:lnSpc>
              <a:buNone/>
            </a:pPr>
            <a:r>
              <a:rPr lang="en-US" sz="1700" dirty="0" smtClean="0">
                <a:latin typeface="Times New Roman" panose="02020603050405020304" pitchFamily="18" charset="0"/>
                <a:cs typeface="Times New Roman" panose="02020603050405020304" pitchFamily="18" charset="0"/>
              </a:rPr>
              <a:t>         It </a:t>
            </a:r>
            <a:r>
              <a:rPr lang="en-US" sz="1700" dirty="0">
                <a:latin typeface="Times New Roman" panose="02020603050405020304" pitchFamily="18" charset="0"/>
                <a:cs typeface="Times New Roman" panose="02020603050405020304" pitchFamily="18" charset="0"/>
              </a:rPr>
              <a:t>uses a mathematical model to calculate probabilities. </a:t>
            </a:r>
          </a:p>
          <a:p>
            <a:pPr marL="0" indent="0" algn="just">
              <a:lnSpc>
                <a:spcPct val="170000"/>
              </a:lnSpc>
              <a:buNone/>
            </a:pPr>
            <a:r>
              <a:rPr lang="en-US" sz="1700" dirty="0" smtClean="0">
                <a:latin typeface="Times New Roman" panose="02020603050405020304" pitchFamily="18" charset="0"/>
                <a:cs typeface="Times New Roman" panose="02020603050405020304" pitchFamily="18" charset="0"/>
              </a:rPr>
              <a:t>         It </a:t>
            </a:r>
            <a:r>
              <a:rPr lang="en-US" sz="1700" dirty="0">
                <a:latin typeface="Times New Roman" panose="02020603050405020304" pitchFamily="18" charset="0"/>
                <a:cs typeface="Times New Roman" panose="02020603050405020304" pitchFamily="18" charset="0"/>
              </a:rPr>
              <a:t>classifies the output into two categories: fake or real. </a:t>
            </a:r>
          </a:p>
          <a:p>
            <a:pPr algn="just">
              <a:lnSpc>
                <a:spcPct val="170000"/>
              </a:lnSpc>
            </a:pPr>
            <a:r>
              <a:rPr lang="en-US" sz="2400" b="1" dirty="0">
                <a:latin typeface="Times New Roman" panose="02020603050405020304" pitchFamily="18" charset="0"/>
                <a:cs typeface="Times New Roman" panose="02020603050405020304" pitchFamily="18" charset="0"/>
              </a:rPr>
              <a:t>6. Ensemble Algorithm Module</a:t>
            </a:r>
          </a:p>
          <a:p>
            <a:pPr marL="0" indent="0" algn="just">
              <a:lnSpc>
                <a:spcPct val="170000"/>
              </a:lnSpc>
              <a:buNone/>
            </a:pPr>
            <a:r>
              <a:rPr lang="en-US" sz="1700" dirty="0" smtClean="0">
                <a:latin typeface="Times New Roman" panose="02020603050405020304" pitchFamily="18" charset="0"/>
                <a:cs typeface="Times New Roman" panose="02020603050405020304" pitchFamily="18" charset="0"/>
              </a:rPr>
              <a:t>         It </a:t>
            </a:r>
            <a:r>
              <a:rPr lang="en-US" sz="1700" dirty="0">
                <a:latin typeface="Times New Roman" panose="02020603050405020304" pitchFamily="18" charset="0"/>
                <a:cs typeface="Times New Roman" panose="02020603050405020304" pitchFamily="18" charset="0"/>
              </a:rPr>
              <a:t>combines multiple machine learning models together. </a:t>
            </a:r>
          </a:p>
          <a:p>
            <a:pPr marL="0" indent="0" algn="just">
              <a:lnSpc>
                <a:spcPct val="170000"/>
              </a:lnSpc>
              <a:buNone/>
            </a:pPr>
            <a:r>
              <a:rPr lang="en-US" sz="1700" dirty="0" smtClean="0">
                <a:latin typeface="Times New Roman" panose="02020603050405020304" pitchFamily="18" charset="0"/>
                <a:cs typeface="Times New Roman" panose="02020603050405020304" pitchFamily="18" charset="0"/>
              </a:rPr>
              <a:t>         It </a:t>
            </a:r>
            <a:r>
              <a:rPr lang="en-US" sz="1700" dirty="0">
                <a:latin typeface="Times New Roman" panose="02020603050405020304" pitchFamily="18" charset="0"/>
                <a:cs typeface="Times New Roman" panose="02020603050405020304" pitchFamily="18" charset="0"/>
              </a:rPr>
              <a:t>improves prediction accuracy compared to a single model.</a:t>
            </a:r>
            <a:r>
              <a:rPr lang="en-US" sz="1700" dirty="0"/>
              <a:t> </a:t>
            </a:r>
          </a:p>
        </p:txBody>
      </p:sp>
    </p:spTree>
    <p:extLst>
      <p:ext uri="{BB962C8B-B14F-4D97-AF65-F5344CB8AC3E}">
        <p14:creationId xmlns:p14="http://schemas.microsoft.com/office/powerpoint/2010/main" val="2722330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598448"/>
            <a:ext cx="8596668" cy="695093"/>
          </a:xfrm>
        </p:spPr>
        <p:txBody>
          <a:bodyPr>
            <a:normAutofit/>
          </a:bodyPr>
          <a:lstStyle/>
          <a:p>
            <a:r>
              <a:rPr lang="en-US" sz="2800" dirty="0" smtClean="0">
                <a:latin typeface="Times New Roman" panose="02020603050405020304" pitchFamily="18" charset="0"/>
                <a:cs typeface="Times New Roman" panose="02020603050405020304" pitchFamily="18" charset="0"/>
              </a:rPr>
              <a:t>Software Requirements</a:t>
            </a:r>
            <a:endParaRPr lang="en-IN" sz="2800"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677334" y="1488968"/>
            <a:ext cx="565456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Operating System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Windows XP / 7 / 10 </a:t>
            </a:r>
          </a:p>
          <a:p>
            <a:pPr marL="0" marR="0" lvl="0" indent="0" algn="just"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b="1" dirty="0">
                <a:solidFill>
                  <a:schemeClr val="tx1"/>
                </a:solidFill>
                <a:latin typeface="Times New Roman" panose="02020603050405020304" pitchFamily="18" charset="0"/>
                <a:cs typeface="Times New Roman" panose="02020603050405020304" pitchFamily="18" charset="0"/>
              </a:rPr>
              <a:t>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Development Framework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Flask framework </a:t>
            </a:r>
          </a:p>
          <a:p>
            <a:pPr marL="0" marR="0" lvl="0" indent="0" algn="just"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b="1" dirty="0">
                <a:solidFill>
                  <a:schemeClr val="tx1"/>
                </a:solidFill>
                <a:latin typeface="Times New Roman" panose="02020603050405020304" pitchFamily="18" charset="0"/>
                <a:cs typeface="Times New Roman" panose="02020603050405020304" pitchFamily="18" charset="0"/>
              </a:rPr>
              <a:t>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Programming Language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Python </a:t>
            </a:r>
          </a:p>
          <a:p>
            <a:pPr marL="0" marR="0" lvl="0" indent="0" algn="just"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b="1" dirty="0">
                <a:solidFill>
                  <a:schemeClr val="tx1"/>
                </a:solidFill>
                <a:latin typeface="Times New Roman" panose="02020603050405020304" pitchFamily="18" charset="0"/>
                <a:cs typeface="Times New Roman" panose="02020603050405020304" pitchFamily="18" charset="0"/>
              </a:rPr>
              <a:t> </a:t>
            </a:r>
            <a:r>
              <a:rPr lang="en-US" b="1" dirty="0" smtClean="0">
                <a:solidFill>
                  <a:schemeClr val="tx1"/>
                </a:solidFill>
                <a:latin typeface="Times New Roman" panose="02020603050405020304" pitchFamily="18" charset="0"/>
                <a:cs typeface="Times New Roman" panose="02020603050405020304" pitchFamily="18" charset="0"/>
              </a:rPr>
              <a:t>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Dataset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Twitter dataset </a:t>
            </a:r>
          </a:p>
          <a:p>
            <a:pPr marL="0" marR="0" lvl="0" indent="0" algn="just" defTabSz="914400" rtl="0" eaLnBrk="0" fontAlgn="base" latinLnBrk="0" hangingPunct="0">
              <a:lnSpc>
                <a:spcPct val="100000"/>
              </a:lnSpc>
              <a:spcBef>
                <a:spcPct val="0"/>
              </a:spcBef>
              <a:spcAft>
                <a:spcPct val="0"/>
              </a:spcAft>
              <a:buClrTx/>
              <a:buSzTx/>
              <a:buNone/>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b="1" dirty="0">
                <a:solidFill>
                  <a:schemeClr val="tx1"/>
                </a:solidFill>
                <a:latin typeface="Times New Roman" panose="02020603050405020304" pitchFamily="18" charset="0"/>
                <a:cs typeface="Times New Roman" panose="02020603050405020304" pitchFamily="18" charset="0"/>
              </a:rPr>
              <a:t> </a:t>
            </a:r>
            <a:r>
              <a:rPr lang="en-US" b="1" dirty="0" smtClean="0">
                <a:solidFill>
                  <a:schemeClr val="tx1"/>
                </a:solidFill>
                <a:latin typeface="Times New Roman" panose="02020603050405020304" pitchFamily="18" charset="0"/>
                <a:cs typeface="Times New Roman" panose="02020603050405020304" pitchFamily="18" charset="0"/>
              </a:rPr>
              <a:t>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IDE (Development Tool)            :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Anaconda Prompt </a:t>
            </a:r>
          </a:p>
        </p:txBody>
      </p:sp>
    </p:spTree>
    <p:extLst>
      <p:ext uri="{BB962C8B-B14F-4D97-AF65-F5344CB8AC3E}">
        <p14:creationId xmlns:p14="http://schemas.microsoft.com/office/powerpoint/2010/main" val="42237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5093"/>
          </a:xfrm>
        </p:spPr>
        <p:txBody>
          <a:bodyPr>
            <a:normAutofit/>
          </a:bodyPr>
          <a:lstStyle/>
          <a:p>
            <a:r>
              <a:rPr lang="en-US" sz="2800" dirty="0" smtClean="0">
                <a:latin typeface="Times New Roman" panose="02020603050405020304" pitchFamily="18" charset="0"/>
                <a:cs typeface="Times New Roman" panose="02020603050405020304" pitchFamily="18" charset="0"/>
              </a:rPr>
              <a:t>Hardware requirements</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677334" y="1421339"/>
            <a:ext cx="564904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System/Processor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Pentium IV 2.4 GHz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Hard Disk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100 GB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RAM                                :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4 GB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Monitor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15-inch VGA Color Monitor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Input Device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Mouse (Logitech</a:t>
            </a:r>
            <a:r>
              <a:rPr kumimoji="0" 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661571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34538"/>
            <a:ext cx="8596668" cy="646769"/>
          </a:xfrm>
        </p:spPr>
        <p:txBody>
          <a:bodyPr>
            <a:normAutofit/>
          </a:bodyPr>
          <a:lstStyle/>
          <a:p>
            <a:r>
              <a:rPr lang="en-US" sz="2800" dirty="0" smtClean="0">
                <a:latin typeface="Times New Roman" panose="02020603050405020304" pitchFamily="18" charset="0"/>
                <a:cs typeface="Times New Roman" panose="02020603050405020304" pitchFamily="18" charset="0"/>
              </a:rPr>
              <a:t>Algorithms used in the project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94901" y="1159727"/>
            <a:ext cx="8596668" cy="5698273"/>
          </a:xfrm>
        </p:spPr>
        <p:txBody>
          <a:bodyPr>
            <a:normAutofit fontScale="32500" lnSpcReduction="20000"/>
          </a:bodyPr>
          <a:lstStyle/>
          <a:p>
            <a:pPr>
              <a:lnSpc>
                <a:spcPct val="170000"/>
              </a:lnSpc>
            </a:pPr>
            <a:r>
              <a:rPr lang="en-US" sz="5500" b="1" dirty="0" smtClean="0">
                <a:latin typeface="Times New Roman" panose="02020603050405020304" pitchFamily="18" charset="0"/>
                <a:cs typeface="Times New Roman" panose="02020603050405020304" pitchFamily="18" charset="0"/>
              </a:rPr>
              <a:t>1. K-Nearest Neighbors(KNN) Algorithm</a:t>
            </a:r>
          </a:p>
          <a:p>
            <a:pPr marL="0" indent="0">
              <a:lnSpc>
                <a:spcPct val="170000"/>
              </a:lnSpc>
              <a:buNone/>
            </a:pPr>
            <a:r>
              <a:rPr lang="en-US" sz="4500" b="1" dirty="0">
                <a:latin typeface="Times New Roman" panose="02020603050405020304" pitchFamily="18" charset="0"/>
                <a:cs typeface="Times New Roman" panose="02020603050405020304" pitchFamily="18" charset="0"/>
              </a:rPr>
              <a:t> </a:t>
            </a:r>
            <a:r>
              <a:rPr lang="en-US" sz="4500" b="1" dirty="0" smtClean="0">
                <a:latin typeface="Times New Roman" panose="02020603050405020304" pitchFamily="18" charset="0"/>
                <a:cs typeface="Times New Roman" panose="02020603050405020304" pitchFamily="18" charset="0"/>
              </a:rPr>
              <a:t>             </a:t>
            </a:r>
            <a:r>
              <a:rPr lang="en-US" sz="5500" b="1" dirty="0" smtClean="0">
                <a:latin typeface="Times New Roman" panose="02020603050405020304" pitchFamily="18" charset="0"/>
                <a:cs typeface="Times New Roman" panose="02020603050405020304" pitchFamily="18" charset="0"/>
              </a:rPr>
              <a:t>Explanation and purpose:</a:t>
            </a:r>
            <a:endParaRPr lang="en-IN" sz="5500" b="1" dirty="0" smtClean="0">
              <a:latin typeface="Times New Roman" panose="02020603050405020304" pitchFamily="18" charset="0"/>
              <a:cs typeface="Times New Roman" panose="02020603050405020304" pitchFamily="18" charset="0"/>
            </a:endParaRPr>
          </a:p>
          <a:p>
            <a:pPr marL="0" indent="0">
              <a:lnSpc>
                <a:spcPct val="170000"/>
              </a:lnSpc>
              <a:buNone/>
            </a:pPr>
            <a:r>
              <a:rPr lang="en-US" sz="4000" b="1" dirty="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KNN classifies a new account based on the similarity with nearby data points.</a:t>
            </a:r>
          </a:p>
          <a:p>
            <a:pPr marL="0" indent="0">
              <a:lnSpc>
                <a:spcPct val="170000"/>
              </a:lnSpc>
              <a:buNone/>
            </a:pPr>
            <a:r>
              <a:rPr lang="en-US" sz="4000" b="1" dirty="0">
                <a:latin typeface="Times New Roman" panose="02020603050405020304" pitchFamily="18" charset="0"/>
                <a:cs typeface="Times New Roman" panose="02020603050405020304" pitchFamily="18" charset="0"/>
              </a:rPr>
              <a:t> </a:t>
            </a:r>
            <a:r>
              <a:rPr lang="en-US" sz="4000" b="1" dirty="0" smtClean="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To identity whether an account is fake or real by comparing it with similar</a:t>
            </a:r>
          </a:p>
          <a:p>
            <a:pPr marL="0" indent="0">
              <a:lnSpc>
                <a:spcPct val="170000"/>
              </a:lnSpc>
              <a:buNone/>
            </a:pPr>
            <a:r>
              <a:rPr lang="en-US" sz="4000" dirty="0">
                <a:latin typeface="Times New Roman" panose="02020603050405020304" pitchFamily="18" charset="0"/>
                <a:cs typeface="Times New Roman" panose="02020603050405020304" pitchFamily="18" charset="0"/>
              </a:rPr>
              <a:t> </a:t>
            </a:r>
            <a:r>
              <a:rPr lang="en-US" sz="4000" dirty="0" smtClean="0">
                <a:latin typeface="Times New Roman" panose="02020603050405020304" pitchFamily="18" charset="0"/>
                <a:cs typeface="Times New Roman" panose="02020603050405020304" pitchFamily="18" charset="0"/>
              </a:rPr>
              <a:t>                    profiles.</a:t>
            </a:r>
          </a:p>
          <a:p>
            <a:pPr marL="0" indent="0">
              <a:lnSpc>
                <a:spcPct val="170000"/>
              </a:lnSpc>
              <a:buNone/>
            </a:pPr>
            <a:r>
              <a:rPr lang="en-US" sz="6800" i="1" dirty="0" smtClean="0">
                <a:latin typeface="Times New Roman" panose="02020603050405020304" pitchFamily="18" charset="0"/>
                <a:cs typeface="Times New Roman" panose="02020603050405020304" pitchFamily="18" charset="0"/>
              </a:rPr>
              <a:t> </a:t>
            </a:r>
            <a:r>
              <a:rPr lang="en-US" sz="6800" b="1" dirty="0" smtClean="0">
                <a:latin typeface="Times New Roman" panose="02020603050405020304" pitchFamily="18" charset="0"/>
                <a:cs typeface="Times New Roman" panose="02020603050405020304" pitchFamily="18" charset="0"/>
              </a:rPr>
              <a:t>Algorithm Steps:</a:t>
            </a:r>
            <a:endParaRPr lang="en-US" sz="6800" i="1" dirty="0" smtClean="0">
              <a:latin typeface="Times New Roman" panose="02020603050405020304" pitchFamily="18" charset="0"/>
              <a:cs typeface="Times New Roman" panose="02020603050405020304" pitchFamily="18" charset="0"/>
            </a:endParaRPr>
          </a:p>
          <a:p>
            <a:pPr>
              <a:lnSpc>
                <a:spcPct val="170000"/>
              </a:lnSpc>
            </a:pPr>
            <a:r>
              <a:rPr lang="en-US" sz="4300" dirty="0">
                <a:latin typeface="Times New Roman" panose="02020603050405020304" pitchFamily="18" charset="0"/>
                <a:cs typeface="Times New Roman" panose="02020603050405020304" pitchFamily="18" charset="0"/>
              </a:rPr>
              <a:t>Load the dataset (user profiles/tweets) </a:t>
            </a:r>
          </a:p>
          <a:p>
            <a:pPr>
              <a:lnSpc>
                <a:spcPct val="170000"/>
              </a:lnSpc>
            </a:pPr>
            <a:r>
              <a:rPr lang="en-US" sz="4300" dirty="0">
                <a:latin typeface="Times New Roman" panose="02020603050405020304" pitchFamily="18" charset="0"/>
                <a:cs typeface="Times New Roman" panose="02020603050405020304" pitchFamily="18" charset="0"/>
              </a:rPr>
              <a:t>Select the value of </a:t>
            </a:r>
            <a:r>
              <a:rPr lang="en-US" sz="4300" b="1" dirty="0">
                <a:latin typeface="Times New Roman" panose="02020603050405020304" pitchFamily="18" charset="0"/>
                <a:cs typeface="Times New Roman" panose="02020603050405020304" pitchFamily="18" charset="0"/>
              </a:rPr>
              <a:t>K</a:t>
            </a:r>
            <a:r>
              <a:rPr lang="en-US" sz="4300" dirty="0">
                <a:latin typeface="Times New Roman" panose="02020603050405020304" pitchFamily="18" charset="0"/>
                <a:cs typeface="Times New Roman" panose="02020603050405020304" pitchFamily="18" charset="0"/>
              </a:rPr>
              <a:t> </a:t>
            </a:r>
          </a:p>
          <a:p>
            <a:pPr>
              <a:lnSpc>
                <a:spcPct val="170000"/>
              </a:lnSpc>
            </a:pPr>
            <a:r>
              <a:rPr lang="en-US" sz="4300" dirty="0">
                <a:latin typeface="Times New Roman" panose="02020603050405020304" pitchFamily="18" charset="0"/>
                <a:cs typeface="Times New Roman" panose="02020603050405020304" pitchFamily="18" charset="0"/>
              </a:rPr>
              <a:t>Calculate distance between test data and all training data </a:t>
            </a:r>
          </a:p>
          <a:p>
            <a:pPr>
              <a:lnSpc>
                <a:spcPct val="170000"/>
              </a:lnSpc>
            </a:pPr>
            <a:r>
              <a:rPr lang="en-US" sz="4300" dirty="0">
                <a:latin typeface="Times New Roman" panose="02020603050405020304" pitchFamily="18" charset="0"/>
                <a:cs typeface="Times New Roman" panose="02020603050405020304" pitchFamily="18" charset="0"/>
              </a:rPr>
              <a:t>Identify the </a:t>
            </a:r>
            <a:r>
              <a:rPr lang="en-US" sz="4300" b="1" dirty="0">
                <a:latin typeface="Times New Roman" panose="02020603050405020304" pitchFamily="18" charset="0"/>
                <a:cs typeface="Times New Roman" panose="02020603050405020304" pitchFamily="18" charset="0"/>
              </a:rPr>
              <a:t>K nearest neighbors</a:t>
            </a:r>
            <a:r>
              <a:rPr lang="en-US" sz="4300" dirty="0">
                <a:latin typeface="Times New Roman" panose="02020603050405020304" pitchFamily="18" charset="0"/>
                <a:cs typeface="Times New Roman" panose="02020603050405020304" pitchFamily="18" charset="0"/>
              </a:rPr>
              <a:t> </a:t>
            </a:r>
          </a:p>
          <a:p>
            <a:pPr>
              <a:lnSpc>
                <a:spcPct val="170000"/>
              </a:lnSpc>
            </a:pPr>
            <a:r>
              <a:rPr lang="en-US" sz="4300" dirty="0">
                <a:latin typeface="Times New Roman" panose="02020603050405020304" pitchFamily="18" charset="0"/>
                <a:cs typeface="Times New Roman" panose="02020603050405020304" pitchFamily="18" charset="0"/>
              </a:rPr>
              <a:t>Count the class labels of neighbors </a:t>
            </a:r>
          </a:p>
          <a:p>
            <a:pPr>
              <a:lnSpc>
                <a:spcPct val="170000"/>
              </a:lnSpc>
            </a:pPr>
            <a:r>
              <a:rPr lang="en-US" sz="4300" dirty="0">
                <a:latin typeface="Times New Roman" panose="02020603050405020304" pitchFamily="18" charset="0"/>
                <a:cs typeface="Times New Roman" panose="02020603050405020304" pitchFamily="18" charset="0"/>
              </a:rPr>
              <a:t>Assign the class with </a:t>
            </a:r>
            <a:r>
              <a:rPr lang="en-US" sz="4300" b="1" dirty="0">
                <a:latin typeface="Times New Roman" panose="02020603050405020304" pitchFamily="18" charset="0"/>
                <a:cs typeface="Times New Roman" panose="02020603050405020304" pitchFamily="18" charset="0"/>
              </a:rPr>
              <a:t>majority vote (Fake/Real)</a:t>
            </a:r>
            <a:r>
              <a:rPr lang="en-US" sz="4300" dirty="0">
                <a:latin typeface="Times New Roman" panose="02020603050405020304" pitchFamily="18" charset="0"/>
                <a:cs typeface="Times New Roman" panose="02020603050405020304" pitchFamily="18" charset="0"/>
              </a:rPr>
              <a:t> </a:t>
            </a:r>
          </a:p>
          <a:p>
            <a:pPr marL="0" indent="0">
              <a:buNone/>
            </a:pPr>
            <a:endParaRPr lang="en-US" sz="4000" i="1"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25503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5434" y="484189"/>
            <a:ext cx="8596668" cy="5268911"/>
          </a:xfrm>
        </p:spPr>
        <p:txBody>
          <a:bodyPr>
            <a:noAutofit/>
          </a:bodyPr>
          <a:lstStyle/>
          <a:p>
            <a:pPr>
              <a:lnSpc>
                <a:spcPct val="150000"/>
              </a:lnSpc>
            </a:pPr>
            <a:r>
              <a:rPr lang="en-US" b="1" dirty="0" smtClean="0">
                <a:latin typeface="Times New Roman" panose="02020603050405020304" pitchFamily="18" charset="0"/>
                <a:cs typeface="Times New Roman" panose="02020603050405020304" pitchFamily="18" charset="0"/>
              </a:rPr>
              <a:t>2. Gaussian </a:t>
            </a:r>
            <a:r>
              <a:rPr lang="en-US" b="1" dirty="0">
                <a:latin typeface="Times New Roman" panose="02020603050405020304" pitchFamily="18" charset="0"/>
                <a:cs typeface="Times New Roman" panose="02020603050405020304" pitchFamily="18" charset="0"/>
              </a:rPr>
              <a:t>Naïve Bayes(GNB) Algorithm</a:t>
            </a:r>
          </a:p>
          <a:p>
            <a:pPr marL="0" indent="0">
              <a:lnSpc>
                <a:spcPct val="150000"/>
              </a:lnSpc>
              <a:buNone/>
            </a:pPr>
            <a:r>
              <a:rPr lang="en-US" sz="1400" b="1" dirty="0">
                <a:latin typeface="Times New Roman" panose="02020603050405020304" pitchFamily="18" charset="0"/>
                <a:cs typeface="Times New Roman" panose="02020603050405020304" pitchFamily="18" charset="0"/>
              </a:rPr>
              <a:t>       </a:t>
            </a:r>
            <a:r>
              <a:rPr lang="en-US" sz="1400"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Explanation and Purpose:</a:t>
            </a:r>
            <a:endParaRPr lang="en-US" b="1" dirty="0">
              <a:latin typeface="Times New Roman" panose="02020603050405020304" pitchFamily="18" charset="0"/>
              <a:cs typeface="Times New Roman" panose="02020603050405020304" pitchFamily="18" charset="0"/>
            </a:endParaRPr>
          </a:p>
          <a:p>
            <a:pPr marL="0" indent="0">
              <a:lnSpc>
                <a:spcPct val="150000"/>
              </a:lnSpc>
              <a:buNone/>
            </a:pPr>
            <a:r>
              <a:rPr lang="en-US" sz="1400" b="1" dirty="0">
                <a:latin typeface="Times New Roman" panose="02020603050405020304" pitchFamily="18" charset="0"/>
                <a:cs typeface="Times New Roman" panose="02020603050405020304" pitchFamily="18" charset="0"/>
              </a:rPr>
              <a:t>          </a:t>
            </a:r>
            <a:r>
              <a:rPr lang="en-US" sz="1400" b="1" dirty="0" smtClean="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A </a:t>
            </a:r>
            <a:r>
              <a:rPr lang="en-US" sz="1400" dirty="0">
                <a:latin typeface="Times New Roman" panose="02020603050405020304" pitchFamily="18" charset="0"/>
                <a:cs typeface="Times New Roman" panose="02020603050405020304" pitchFamily="18" charset="0"/>
              </a:rPr>
              <a:t>probability-based algorithm that uses Bayes theorem and assumes  </a:t>
            </a:r>
            <a:r>
              <a:rPr lang="en-US" sz="1400" dirty="0" smtClean="0">
                <a:latin typeface="Times New Roman" panose="02020603050405020304" pitchFamily="18" charset="0"/>
                <a:cs typeface="Times New Roman" panose="02020603050405020304" pitchFamily="18" charset="0"/>
              </a:rPr>
              <a:t> features </a:t>
            </a:r>
            <a:r>
              <a:rPr lang="en-US" sz="1400" dirty="0">
                <a:latin typeface="Times New Roman" panose="02020603050405020304" pitchFamily="18" charset="0"/>
                <a:cs typeface="Times New Roman" panose="02020603050405020304" pitchFamily="18" charset="0"/>
              </a:rPr>
              <a:t>are independent.</a:t>
            </a:r>
          </a:p>
          <a:p>
            <a:pPr marL="0" indent="0">
              <a:lnSpc>
                <a:spcPct val="150000"/>
              </a:lnSpc>
              <a:buNone/>
            </a:pPr>
            <a:r>
              <a:rPr lang="en-US" sz="1400" b="1" dirty="0">
                <a:latin typeface="Times New Roman" panose="02020603050405020304" pitchFamily="18" charset="0"/>
                <a:cs typeface="Times New Roman" panose="02020603050405020304" pitchFamily="18" charset="0"/>
              </a:rPr>
              <a:t>       </a:t>
            </a:r>
            <a:r>
              <a:rPr lang="en-US" sz="1400" b="1" dirty="0" smtClean="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To </a:t>
            </a:r>
            <a:r>
              <a:rPr lang="en-US" sz="1400" dirty="0">
                <a:latin typeface="Times New Roman" panose="02020603050405020304" pitchFamily="18" charset="0"/>
                <a:cs typeface="Times New Roman" panose="02020603050405020304" pitchFamily="18" charset="0"/>
              </a:rPr>
              <a:t>quickly predict fake accounts using probability and handle large  </a:t>
            </a:r>
            <a:r>
              <a:rPr lang="en-US" sz="1400" dirty="0" smtClean="0">
                <a:latin typeface="Times New Roman" panose="02020603050405020304" pitchFamily="18" charset="0"/>
                <a:cs typeface="Times New Roman" panose="02020603050405020304" pitchFamily="18" charset="0"/>
              </a:rPr>
              <a:t>datasets 	efficiently.</a:t>
            </a:r>
          </a:p>
          <a:p>
            <a:pPr marL="0" indent="0">
              <a:lnSpc>
                <a:spcPct val="150000"/>
              </a:lnSpc>
              <a:buNone/>
            </a:pPr>
            <a:r>
              <a:rPr lang="en-US" sz="2200" b="1" dirty="0" smtClean="0">
                <a:latin typeface="Times New Roman" panose="02020603050405020304" pitchFamily="18" charset="0"/>
                <a:cs typeface="Times New Roman" panose="02020603050405020304" pitchFamily="18" charset="0"/>
              </a:rPr>
              <a:t>Algorithm Steps:</a:t>
            </a:r>
          </a:p>
          <a:p>
            <a:pPr>
              <a:lnSpc>
                <a:spcPct val="150000"/>
              </a:lnSpc>
            </a:pPr>
            <a:r>
              <a:rPr lang="en-US" sz="1400" dirty="0">
                <a:latin typeface="Times New Roman" panose="02020603050405020304" pitchFamily="18" charset="0"/>
                <a:cs typeface="Times New Roman" panose="02020603050405020304" pitchFamily="18" charset="0"/>
              </a:rPr>
              <a:t>Load and preprocess dataset </a:t>
            </a:r>
          </a:p>
          <a:p>
            <a:pPr>
              <a:lnSpc>
                <a:spcPct val="150000"/>
              </a:lnSpc>
            </a:pPr>
            <a:r>
              <a:rPr lang="en-US" sz="1400" dirty="0">
                <a:latin typeface="Times New Roman" panose="02020603050405020304" pitchFamily="18" charset="0"/>
                <a:cs typeface="Times New Roman" panose="02020603050405020304" pitchFamily="18" charset="0"/>
              </a:rPr>
              <a:t>Calculate </a:t>
            </a:r>
            <a:r>
              <a:rPr lang="en-US" sz="1400" b="1" dirty="0">
                <a:latin typeface="Times New Roman" panose="02020603050405020304" pitchFamily="18" charset="0"/>
                <a:cs typeface="Times New Roman" panose="02020603050405020304" pitchFamily="18" charset="0"/>
              </a:rPr>
              <a:t>prior probability</a:t>
            </a:r>
            <a:r>
              <a:rPr lang="en-US" sz="1400" dirty="0">
                <a:latin typeface="Times New Roman" panose="02020603050405020304" pitchFamily="18" charset="0"/>
                <a:cs typeface="Times New Roman" panose="02020603050405020304" pitchFamily="18" charset="0"/>
              </a:rPr>
              <a:t> of each class </a:t>
            </a:r>
          </a:p>
          <a:p>
            <a:pPr>
              <a:lnSpc>
                <a:spcPct val="150000"/>
              </a:lnSpc>
            </a:pPr>
            <a:r>
              <a:rPr lang="en-US" sz="1400" dirty="0">
                <a:latin typeface="Times New Roman" panose="02020603050405020304" pitchFamily="18" charset="0"/>
                <a:cs typeface="Times New Roman" panose="02020603050405020304" pitchFamily="18" charset="0"/>
              </a:rPr>
              <a:t>Compute </a:t>
            </a:r>
            <a:r>
              <a:rPr lang="en-US" sz="1400" b="1" dirty="0">
                <a:latin typeface="Times New Roman" panose="02020603050405020304" pitchFamily="18" charset="0"/>
                <a:cs typeface="Times New Roman" panose="02020603050405020304" pitchFamily="18" charset="0"/>
              </a:rPr>
              <a:t>mean and variance</a:t>
            </a:r>
            <a:r>
              <a:rPr lang="en-US" sz="1400" dirty="0">
                <a:latin typeface="Times New Roman" panose="02020603050405020304" pitchFamily="18" charset="0"/>
                <a:cs typeface="Times New Roman" panose="02020603050405020304" pitchFamily="18" charset="0"/>
              </a:rPr>
              <a:t> of features for each class </a:t>
            </a:r>
          </a:p>
          <a:p>
            <a:pPr>
              <a:lnSpc>
                <a:spcPct val="150000"/>
              </a:lnSpc>
            </a:pPr>
            <a:r>
              <a:rPr lang="en-US" sz="1400" dirty="0">
                <a:latin typeface="Times New Roman" panose="02020603050405020304" pitchFamily="18" charset="0"/>
                <a:cs typeface="Times New Roman" panose="02020603050405020304" pitchFamily="18" charset="0"/>
              </a:rPr>
              <a:t>Apply </a:t>
            </a:r>
            <a:r>
              <a:rPr lang="en-US" sz="1400" b="1" dirty="0">
                <a:latin typeface="Times New Roman" panose="02020603050405020304" pitchFamily="18" charset="0"/>
                <a:cs typeface="Times New Roman" panose="02020603050405020304" pitchFamily="18" charset="0"/>
              </a:rPr>
              <a:t>Bayes Theorem</a:t>
            </a:r>
            <a:r>
              <a:rPr lang="en-US" sz="1400" dirty="0">
                <a:latin typeface="Times New Roman" panose="02020603050405020304" pitchFamily="18" charset="0"/>
                <a:cs typeface="Times New Roman" panose="02020603050405020304" pitchFamily="18" charset="0"/>
              </a:rPr>
              <a:t> </a:t>
            </a:r>
          </a:p>
          <a:p>
            <a:pPr>
              <a:lnSpc>
                <a:spcPct val="150000"/>
              </a:lnSpc>
            </a:pPr>
            <a:r>
              <a:rPr lang="en-US" sz="1400" dirty="0">
                <a:latin typeface="Times New Roman" panose="02020603050405020304" pitchFamily="18" charset="0"/>
                <a:cs typeface="Times New Roman" panose="02020603050405020304" pitchFamily="18" charset="0"/>
              </a:rPr>
              <a:t>Calculate probability of each class for input data </a:t>
            </a:r>
          </a:p>
          <a:p>
            <a:pPr>
              <a:lnSpc>
                <a:spcPct val="150000"/>
              </a:lnSpc>
            </a:pPr>
            <a:r>
              <a:rPr lang="en-US" sz="1400" dirty="0">
                <a:latin typeface="Times New Roman" panose="02020603050405020304" pitchFamily="18" charset="0"/>
                <a:cs typeface="Times New Roman" panose="02020603050405020304" pitchFamily="18" charset="0"/>
              </a:rPr>
              <a:t>Choose the class with </a:t>
            </a:r>
            <a:r>
              <a:rPr lang="en-US" sz="1400" b="1" dirty="0">
                <a:latin typeface="Times New Roman" panose="02020603050405020304" pitchFamily="18" charset="0"/>
                <a:cs typeface="Times New Roman" panose="02020603050405020304" pitchFamily="18" charset="0"/>
              </a:rPr>
              <a:t>highest probability</a:t>
            </a:r>
            <a:r>
              <a:rPr lang="en-US" sz="1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82101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397" y="762864"/>
            <a:ext cx="8596668" cy="5637936"/>
          </a:xfrm>
        </p:spPr>
        <p:txBody>
          <a:bodyPr>
            <a:normAutofit fontScale="92500" lnSpcReduction="10000"/>
          </a:bodyPr>
          <a:lstStyle/>
          <a:p>
            <a:pPr>
              <a:lnSpc>
                <a:spcPct val="170000"/>
              </a:lnSpc>
            </a:pPr>
            <a:r>
              <a:rPr lang="en-US" b="1" dirty="0" smtClean="0">
                <a:latin typeface="Times New Roman" panose="02020603050405020304" pitchFamily="18" charset="0"/>
                <a:cs typeface="Times New Roman" panose="02020603050405020304" pitchFamily="18" charset="0"/>
              </a:rPr>
              <a:t>3</a:t>
            </a:r>
            <a:r>
              <a:rPr lang="en-US" sz="1900" b="1" dirty="0" smtClean="0">
                <a:latin typeface="Times New Roman" panose="02020603050405020304" pitchFamily="18" charset="0"/>
                <a:cs typeface="Times New Roman" panose="02020603050405020304" pitchFamily="18" charset="0"/>
              </a:rPr>
              <a:t>. Logistic Regression(LR)</a:t>
            </a:r>
          </a:p>
          <a:p>
            <a:pPr marL="0" indent="0">
              <a:lnSpc>
                <a:spcPct val="170000"/>
              </a:lnSpc>
              <a:buNone/>
            </a:pPr>
            <a:r>
              <a:rPr lang="en-US" sz="1900" b="1" dirty="0">
                <a:latin typeface="Times New Roman" panose="02020603050405020304" pitchFamily="18" charset="0"/>
                <a:cs typeface="Times New Roman" panose="02020603050405020304" pitchFamily="18" charset="0"/>
              </a:rPr>
              <a:t> </a:t>
            </a:r>
            <a:r>
              <a:rPr lang="en-US" sz="1900" b="1" dirty="0" smtClean="0">
                <a:latin typeface="Times New Roman" panose="02020603050405020304" pitchFamily="18" charset="0"/>
                <a:cs typeface="Times New Roman" panose="02020603050405020304" pitchFamily="18" charset="0"/>
              </a:rPr>
              <a:t>            Explanation and Purpose:</a:t>
            </a:r>
          </a:p>
          <a:p>
            <a:pPr marL="0" indent="0">
              <a:lnSpc>
                <a:spcPct val="170000"/>
              </a:lnSpc>
              <a:buNone/>
            </a:pPr>
            <a:r>
              <a:rPr lang="en-US" sz="1500" b="1" dirty="0">
                <a:latin typeface="Times New Roman" panose="02020603050405020304" pitchFamily="18" charset="0"/>
                <a:cs typeface="Times New Roman" panose="02020603050405020304" pitchFamily="18" charset="0"/>
              </a:rPr>
              <a:t> </a:t>
            </a:r>
            <a:r>
              <a:rPr lang="en-US" sz="1500" b="1" dirty="0" smtClean="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A statistical algorithm used for binary classification(0 0r 1).</a:t>
            </a:r>
          </a:p>
          <a:p>
            <a:pPr marL="0" indent="0">
              <a:lnSpc>
                <a:spcPct val="170000"/>
              </a:lnSpc>
              <a:buNone/>
            </a:pPr>
            <a:r>
              <a:rPr lang="en-US" sz="1500" b="1" dirty="0">
                <a:latin typeface="Times New Roman" panose="02020603050405020304" pitchFamily="18" charset="0"/>
                <a:cs typeface="Times New Roman" panose="02020603050405020304" pitchFamily="18" charset="0"/>
              </a:rPr>
              <a:t> </a:t>
            </a:r>
            <a:r>
              <a:rPr lang="en-US" sz="1500" b="1" dirty="0" smtClean="0">
                <a:latin typeface="Times New Roman" panose="02020603050405020304" pitchFamily="18" charset="0"/>
                <a:cs typeface="Times New Roman" panose="02020603050405020304" pitchFamily="18" charset="0"/>
              </a:rPr>
              <a:t>           </a:t>
            </a:r>
            <a:r>
              <a:rPr lang="en-US" sz="1500" dirty="0" smtClean="0">
                <a:latin typeface="Times New Roman" panose="02020603050405020304" pitchFamily="18" charset="0"/>
                <a:cs typeface="Times New Roman" panose="02020603050405020304" pitchFamily="18" charset="0"/>
              </a:rPr>
              <a:t>To predict whether an account is fake(1) or real(0) with high accuracy.</a:t>
            </a:r>
            <a:endParaRPr lang="en-US" sz="1500" dirty="0">
              <a:latin typeface="Times New Roman" panose="02020603050405020304" pitchFamily="18" charset="0"/>
              <a:cs typeface="Times New Roman" panose="02020603050405020304" pitchFamily="18" charset="0"/>
            </a:endParaRPr>
          </a:p>
          <a:p>
            <a:pPr marL="0" indent="0">
              <a:lnSpc>
                <a:spcPct val="170000"/>
              </a:lnSpc>
              <a:buNone/>
            </a:pPr>
            <a:r>
              <a:rPr lang="en-IN" sz="2200" b="1" dirty="0">
                <a:latin typeface="Times New Roman" panose="02020603050405020304" pitchFamily="18" charset="0"/>
                <a:cs typeface="Times New Roman" panose="02020603050405020304" pitchFamily="18" charset="0"/>
              </a:rPr>
              <a:t> </a:t>
            </a:r>
            <a:r>
              <a:rPr lang="en-IN" sz="2200" b="1" dirty="0" smtClean="0">
                <a:latin typeface="Times New Roman" panose="02020603050405020304" pitchFamily="18" charset="0"/>
                <a:cs typeface="Times New Roman" panose="02020603050405020304" pitchFamily="18" charset="0"/>
              </a:rPr>
              <a:t>Algorithm Steps</a:t>
            </a:r>
            <a:endParaRPr lang="en-IN" sz="2200" b="1" dirty="0">
              <a:latin typeface="Times New Roman" panose="02020603050405020304" pitchFamily="18" charset="0"/>
              <a:cs typeface="Times New Roman" panose="02020603050405020304" pitchFamily="18" charset="0"/>
            </a:endParaRPr>
          </a:p>
          <a:p>
            <a:pPr>
              <a:lnSpc>
                <a:spcPct val="170000"/>
              </a:lnSpc>
            </a:pPr>
            <a:r>
              <a:rPr lang="en-IN" sz="1500" dirty="0">
                <a:latin typeface="Times New Roman" panose="02020603050405020304" pitchFamily="18" charset="0"/>
                <a:cs typeface="Times New Roman" panose="02020603050405020304" pitchFamily="18" charset="0"/>
              </a:rPr>
              <a:t>Load dataset </a:t>
            </a:r>
          </a:p>
          <a:p>
            <a:pPr>
              <a:lnSpc>
                <a:spcPct val="170000"/>
              </a:lnSpc>
            </a:pPr>
            <a:r>
              <a:rPr lang="en-IN" sz="1500" dirty="0">
                <a:latin typeface="Times New Roman" panose="02020603050405020304" pitchFamily="18" charset="0"/>
                <a:cs typeface="Times New Roman" panose="02020603050405020304" pitchFamily="18" charset="0"/>
              </a:rPr>
              <a:t>Initialize weights (parameters) </a:t>
            </a:r>
          </a:p>
          <a:p>
            <a:pPr>
              <a:lnSpc>
                <a:spcPct val="170000"/>
              </a:lnSpc>
            </a:pPr>
            <a:r>
              <a:rPr lang="en-IN" sz="1500" dirty="0">
                <a:latin typeface="Times New Roman" panose="02020603050405020304" pitchFamily="18" charset="0"/>
                <a:cs typeface="Times New Roman" panose="02020603050405020304" pitchFamily="18" charset="0"/>
              </a:rPr>
              <a:t>Apply </a:t>
            </a:r>
            <a:r>
              <a:rPr lang="en-IN" sz="1500" b="1" dirty="0">
                <a:latin typeface="Times New Roman" panose="02020603050405020304" pitchFamily="18" charset="0"/>
                <a:cs typeface="Times New Roman" panose="02020603050405020304" pitchFamily="18" charset="0"/>
              </a:rPr>
              <a:t>sigmoid function</a:t>
            </a:r>
            <a:r>
              <a:rPr lang="en-IN" sz="1500" dirty="0">
                <a:latin typeface="Times New Roman" panose="02020603050405020304" pitchFamily="18" charset="0"/>
                <a:cs typeface="Times New Roman" panose="02020603050405020304" pitchFamily="18" charset="0"/>
              </a:rPr>
              <a:t> to calculate probability </a:t>
            </a:r>
          </a:p>
          <a:p>
            <a:pPr>
              <a:lnSpc>
                <a:spcPct val="170000"/>
              </a:lnSpc>
            </a:pPr>
            <a:r>
              <a:rPr lang="en-IN" sz="1500" dirty="0">
                <a:latin typeface="Times New Roman" panose="02020603050405020304" pitchFamily="18" charset="0"/>
                <a:cs typeface="Times New Roman" panose="02020603050405020304" pitchFamily="18" charset="0"/>
              </a:rPr>
              <a:t>Compute </a:t>
            </a:r>
            <a:r>
              <a:rPr lang="en-IN" sz="1500" b="1" dirty="0">
                <a:latin typeface="Times New Roman" panose="02020603050405020304" pitchFamily="18" charset="0"/>
                <a:cs typeface="Times New Roman" panose="02020603050405020304" pitchFamily="18" charset="0"/>
              </a:rPr>
              <a:t>loss (error)</a:t>
            </a:r>
            <a:r>
              <a:rPr lang="en-IN" sz="1500" dirty="0">
                <a:latin typeface="Times New Roman" panose="02020603050405020304" pitchFamily="18" charset="0"/>
                <a:cs typeface="Times New Roman" panose="02020603050405020304" pitchFamily="18" charset="0"/>
              </a:rPr>
              <a:t> </a:t>
            </a:r>
          </a:p>
          <a:p>
            <a:pPr>
              <a:lnSpc>
                <a:spcPct val="170000"/>
              </a:lnSpc>
            </a:pPr>
            <a:r>
              <a:rPr lang="en-IN" sz="1500" dirty="0">
                <a:latin typeface="Times New Roman" panose="02020603050405020304" pitchFamily="18" charset="0"/>
                <a:cs typeface="Times New Roman" panose="02020603050405020304" pitchFamily="18" charset="0"/>
              </a:rPr>
              <a:t>Update weights using optimization method </a:t>
            </a:r>
          </a:p>
          <a:p>
            <a:pPr>
              <a:lnSpc>
                <a:spcPct val="170000"/>
              </a:lnSpc>
            </a:pPr>
            <a:r>
              <a:rPr lang="en-IN" sz="1500" dirty="0">
                <a:latin typeface="Times New Roman" panose="02020603050405020304" pitchFamily="18" charset="0"/>
                <a:cs typeface="Times New Roman" panose="02020603050405020304" pitchFamily="18" charset="0"/>
              </a:rPr>
              <a:t>Predict output (0 = Real, 1 = Fake) </a:t>
            </a:r>
          </a:p>
          <a:p>
            <a:pPr marL="0" indent="0" algn="just">
              <a:buNone/>
            </a:pPr>
            <a:endParaRPr lang="en-US" i="1" dirty="0"/>
          </a:p>
        </p:txBody>
      </p:sp>
    </p:spTree>
    <p:extLst>
      <p:ext uri="{BB962C8B-B14F-4D97-AF65-F5344CB8AC3E}">
        <p14:creationId xmlns:p14="http://schemas.microsoft.com/office/powerpoint/2010/main" val="2862670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6234" y="852489"/>
            <a:ext cx="8596668" cy="5313180"/>
          </a:xfrm>
        </p:spPr>
        <p:txBody>
          <a:bodyPr>
            <a:normAutofit fontScale="70000" lnSpcReduction="20000"/>
          </a:bodyPr>
          <a:lstStyle/>
          <a:p>
            <a:pPr algn="just">
              <a:lnSpc>
                <a:spcPct val="200000"/>
              </a:lnSpc>
            </a:pPr>
            <a:r>
              <a:rPr lang="en-US" sz="2300" b="1" dirty="0" smtClean="0">
                <a:latin typeface="Times New Roman" panose="02020603050405020304" pitchFamily="18" charset="0"/>
                <a:cs typeface="Times New Roman" panose="02020603050405020304" pitchFamily="18" charset="0"/>
              </a:rPr>
              <a:t>4. Ensemble </a:t>
            </a:r>
            <a:r>
              <a:rPr lang="en-US" sz="2300" b="1" dirty="0">
                <a:latin typeface="Times New Roman" panose="02020603050405020304" pitchFamily="18" charset="0"/>
                <a:cs typeface="Times New Roman" panose="02020603050405020304" pitchFamily="18" charset="0"/>
              </a:rPr>
              <a:t>Algorithm</a:t>
            </a:r>
          </a:p>
          <a:p>
            <a:pPr marL="0" indent="0" algn="just">
              <a:lnSpc>
                <a:spcPct val="200000"/>
              </a:lnSpc>
              <a:buNone/>
            </a:pPr>
            <a:r>
              <a:rPr lang="en-US" sz="2300" b="1" dirty="0">
                <a:latin typeface="Times New Roman" panose="02020603050405020304" pitchFamily="18" charset="0"/>
                <a:cs typeface="Times New Roman" panose="02020603050405020304" pitchFamily="18" charset="0"/>
              </a:rPr>
              <a:t>       </a:t>
            </a:r>
            <a:r>
              <a:rPr lang="en-US" sz="2300" b="1" dirty="0" smtClean="0">
                <a:latin typeface="Times New Roman" panose="02020603050405020304" pitchFamily="18" charset="0"/>
                <a:cs typeface="Times New Roman" panose="02020603050405020304" pitchFamily="18" charset="0"/>
              </a:rPr>
              <a:t>Explanation and Purpose:</a:t>
            </a:r>
            <a:endParaRPr lang="en-US" sz="2300" b="1" dirty="0">
              <a:latin typeface="Times New Roman" panose="02020603050405020304" pitchFamily="18" charset="0"/>
              <a:cs typeface="Times New Roman" panose="02020603050405020304" pitchFamily="18" charset="0"/>
            </a:endParaRPr>
          </a:p>
          <a:p>
            <a:pPr marL="0" indent="0" algn="just">
              <a:lnSpc>
                <a:spcPct val="200000"/>
              </a:lnSpc>
              <a:buNone/>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Combines multiple algorithms to make a final prediction.</a:t>
            </a:r>
          </a:p>
          <a:p>
            <a:pPr marL="0" indent="0" algn="just">
              <a:lnSpc>
                <a:spcPct val="200000"/>
              </a:lnSpc>
              <a:buNone/>
            </a:pPr>
            <a:r>
              <a:rPr lang="en-US" b="1"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improve overall accuracy and performance of fake account detection</a:t>
            </a:r>
            <a:r>
              <a:rPr lang="en-US" dirty="0" smtClean="0">
                <a:latin typeface="Times New Roman" panose="02020603050405020304" pitchFamily="18" charset="0"/>
                <a:cs typeface="Times New Roman" panose="02020603050405020304" pitchFamily="18" charset="0"/>
              </a:rPr>
              <a:t>.</a:t>
            </a:r>
          </a:p>
          <a:p>
            <a:pPr marL="0" indent="0" algn="just">
              <a:lnSpc>
                <a:spcPct val="200000"/>
              </a:lnSpc>
              <a:buNone/>
            </a:pPr>
            <a:r>
              <a:rPr lang="en-US" sz="2800" b="1" dirty="0" smtClean="0">
                <a:latin typeface="Times New Roman" panose="02020603050405020304" pitchFamily="18" charset="0"/>
                <a:cs typeface="Times New Roman" panose="02020603050405020304" pitchFamily="18" charset="0"/>
              </a:rPr>
              <a:t>Algorithm steps:</a:t>
            </a:r>
          </a:p>
          <a:p>
            <a:pPr>
              <a:lnSpc>
                <a:spcPct val="200000"/>
              </a:lnSpc>
            </a:pPr>
            <a:r>
              <a:rPr lang="en-US" sz="2000" dirty="0" smtClean="0">
                <a:latin typeface="Times New Roman" panose="02020603050405020304" pitchFamily="18" charset="0"/>
                <a:cs typeface="Times New Roman" panose="02020603050405020304" pitchFamily="18" charset="0"/>
              </a:rPr>
              <a:t>Train </a:t>
            </a:r>
            <a:r>
              <a:rPr lang="en-US" sz="2000" dirty="0">
                <a:latin typeface="Times New Roman" panose="02020603050405020304" pitchFamily="18" charset="0"/>
                <a:cs typeface="Times New Roman" panose="02020603050405020304" pitchFamily="18" charset="0"/>
              </a:rPr>
              <a:t>multiple models (KNN, NB, LR) </a:t>
            </a:r>
          </a:p>
          <a:p>
            <a:pPr>
              <a:lnSpc>
                <a:spcPct val="200000"/>
              </a:lnSpc>
            </a:pPr>
            <a:r>
              <a:rPr lang="en-US" sz="2000" dirty="0">
                <a:latin typeface="Times New Roman" panose="02020603050405020304" pitchFamily="18" charset="0"/>
                <a:cs typeface="Times New Roman" panose="02020603050405020304" pitchFamily="18" charset="0"/>
              </a:rPr>
              <a:t>Get predictions from each model </a:t>
            </a:r>
          </a:p>
          <a:p>
            <a:pPr>
              <a:lnSpc>
                <a:spcPct val="200000"/>
              </a:lnSpc>
            </a:pPr>
            <a:r>
              <a:rPr lang="en-US" sz="2000" dirty="0">
                <a:latin typeface="Times New Roman" panose="02020603050405020304" pitchFamily="18" charset="0"/>
                <a:cs typeface="Times New Roman" panose="02020603050405020304" pitchFamily="18" charset="0"/>
              </a:rPr>
              <a:t>Combine predictions (voting/averaging) </a:t>
            </a:r>
          </a:p>
          <a:p>
            <a:pPr>
              <a:lnSpc>
                <a:spcPct val="200000"/>
              </a:lnSpc>
            </a:pPr>
            <a:r>
              <a:rPr lang="en-US" sz="2000" dirty="0">
                <a:latin typeface="Times New Roman" panose="02020603050405020304" pitchFamily="18" charset="0"/>
                <a:cs typeface="Times New Roman" panose="02020603050405020304" pitchFamily="18" charset="0"/>
              </a:rPr>
              <a:t>Produce final result </a:t>
            </a:r>
          </a:p>
          <a:p>
            <a:pPr>
              <a:lnSpc>
                <a:spcPct val="200000"/>
              </a:lnSpc>
            </a:pPr>
            <a:r>
              <a:rPr lang="en-US" sz="2000" dirty="0">
                <a:latin typeface="Times New Roman" panose="02020603050405020304" pitchFamily="18" charset="0"/>
                <a:cs typeface="Times New Roman" panose="02020603050405020304" pitchFamily="18" charset="0"/>
              </a:rPr>
              <a:t>Evaluate using accuracy, precision, recall </a:t>
            </a:r>
          </a:p>
          <a:p>
            <a:pPr>
              <a:lnSpc>
                <a:spcPct val="20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704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00594"/>
            <a:ext cx="8596668" cy="725679"/>
          </a:xfrm>
        </p:spPr>
        <p:txBody>
          <a:bodyPr>
            <a:normAutofit/>
          </a:bodyPr>
          <a:lstStyle/>
          <a:p>
            <a:r>
              <a:rPr lang="en-US" sz="2800" dirty="0" smtClean="0">
                <a:latin typeface="Times New Roman" panose="02020603050405020304" pitchFamily="18" charset="0"/>
                <a:cs typeface="Times New Roman" panose="02020603050405020304" pitchFamily="18" charset="0"/>
              </a:rPr>
              <a:t>About the Software</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502229"/>
            <a:ext cx="8596668" cy="4624251"/>
          </a:xfrm>
        </p:spPr>
        <p:txBody>
          <a:bodyPr>
            <a:normAutofit/>
          </a:bodyPr>
          <a:lstStyle/>
          <a:p>
            <a:pPr>
              <a:lnSpc>
                <a:spcPct val="150000"/>
              </a:lnSpc>
            </a:pPr>
            <a:r>
              <a:rPr lang="en-US" sz="2200" b="1" dirty="0" smtClean="0">
                <a:latin typeface="Times New Roman" panose="02020603050405020304" pitchFamily="18" charset="0"/>
                <a:cs typeface="Times New Roman" panose="02020603050405020304" pitchFamily="18" charset="0"/>
              </a:rPr>
              <a:t> Python</a:t>
            </a:r>
            <a:endParaRPr lang="en-US" sz="2200" b="1" dirty="0">
              <a:latin typeface="Times New Roman" panose="02020603050405020304" pitchFamily="18" charset="0"/>
              <a:cs typeface="Times New Roman" panose="02020603050405020304" pitchFamily="18" charset="0"/>
            </a:endParaRPr>
          </a:p>
          <a:p>
            <a:pPr marL="0" indent="0">
              <a:lnSpc>
                <a:spcPct val="150000"/>
              </a:lnSpc>
              <a:buNone/>
            </a:pPr>
            <a:r>
              <a:rPr lang="en-US" dirty="0" smtClean="0">
                <a:latin typeface="Times New Roman" panose="02020603050405020304" pitchFamily="18" charset="0"/>
                <a:cs typeface="Times New Roman" panose="02020603050405020304" pitchFamily="18" charset="0"/>
              </a:rPr>
              <a:t>         Python </a:t>
            </a:r>
            <a:r>
              <a:rPr lang="en-US" dirty="0">
                <a:latin typeface="Times New Roman" panose="02020603050405020304" pitchFamily="18" charset="0"/>
                <a:cs typeface="Times New Roman" panose="02020603050405020304" pitchFamily="18" charset="0"/>
              </a:rPr>
              <a:t>is the main programming language used to build the system.</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helps in developing machine learning models and processing data.</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also supports useful libraries like NumPy, Pandas, and </a:t>
            </a:r>
            <a:r>
              <a:rPr lang="en-US" dirty="0" err="1">
                <a:latin typeface="Times New Roman" panose="02020603050405020304" pitchFamily="18" charset="0"/>
                <a:cs typeface="Times New Roman" panose="02020603050405020304" pitchFamily="18" charset="0"/>
              </a:rPr>
              <a:t>Scikit</a:t>
            </a:r>
            <a:r>
              <a:rPr lang="en-US" dirty="0">
                <a:latin typeface="Times New Roman" panose="02020603050405020304" pitchFamily="18" charset="0"/>
                <a:cs typeface="Times New Roman" panose="02020603050405020304" pitchFamily="18" charset="0"/>
              </a:rPr>
              <a:t>-learn for </a:t>
            </a:r>
            <a:r>
              <a:rPr lang="en-US" dirty="0" smtClean="0">
                <a:latin typeface="Times New Roman" panose="02020603050405020304" pitchFamily="18" charset="0"/>
                <a:cs typeface="Times New Roman" panose="02020603050405020304" pitchFamily="18" charset="0"/>
              </a:rPr>
              <a:t>analysis.</a:t>
            </a:r>
            <a:endParaRPr lang="en-US" dirty="0">
              <a:latin typeface="Times New Roman" panose="02020603050405020304" pitchFamily="18" charset="0"/>
              <a:cs typeface="Times New Roman" panose="02020603050405020304" pitchFamily="18" charset="0"/>
            </a:endParaRPr>
          </a:p>
          <a:p>
            <a:pPr>
              <a:lnSpc>
                <a:spcPct val="150000"/>
              </a:lnSpc>
            </a:pPr>
            <a:r>
              <a:rPr lang="en-US" sz="2200" b="1" dirty="0">
                <a:latin typeface="Times New Roman" panose="02020603050405020304" pitchFamily="18" charset="0"/>
                <a:cs typeface="Times New Roman" panose="02020603050405020304" pitchFamily="18" charset="0"/>
              </a:rPr>
              <a:t>Anaconda</a:t>
            </a:r>
          </a:p>
          <a:p>
            <a:pPr marL="0" indent="0">
              <a:lnSpc>
                <a:spcPct val="150000"/>
              </a:lnSpc>
              <a:buNone/>
            </a:pPr>
            <a:r>
              <a:rPr lang="en-US" dirty="0" smtClean="0">
                <a:latin typeface="Times New Roman" panose="02020603050405020304" pitchFamily="18" charset="0"/>
                <a:cs typeface="Times New Roman" panose="02020603050405020304" pitchFamily="18" charset="0"/>
              </a:rPr>
              <a:t>           Anaconda </a:t>
            </a:r>
            <a:r>
              <a:rPr lang="en-US" dirty="0">
                <a:latin typeface="Times New Roman" panose="02020603050405020304" pitchFamily="18" charset="0"/>
                <a:cs typeface="Times New Roman" panose="02020603050405020304" pitchFamily="18" charset="0"/>
              </a:rPr>
              <a:t>is used to manage Python environments and packages.</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makes it easy to install all required libraries for machine learning.</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also provides Jupyter Notebook for testing and experimenting with code.</a:t>
            </a:r>
          </a:p>
          <a:p>
            <a:pPr>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3262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88275"/>
            <a:ext cx="8596668" cy="5153088"/>
          </a:xfrm>
        </p:spPr>
        <p:txBody>
          <a:bodyPr>
            <a:normAutofit/>
          </a:bodyPr>
          <a:lstStyle/>
          <a:p>
            <a:pPr>
              <a:lnSpc>
                <a:spcPct val="200000"/>
              </a:lnSpc>
            </a:pPr>
            <a:r>
              <a:rPr lang="en-US" sz="2200" b="1" dirty="0">
                <a:latin typeface="Times New Roman" panose="02020603050405020304" pitchFamily="18" charset="0"/>
                <a:cs typeface="Times New Roman" panose="02020603050405020304" pitchFamily="18" charset="0"/>
              </a:rPr>
              <a:t>Flask</a:t>
            </a:r>
          </a:p>
          <a:p>
            <a:pPr marL="0" indent="0">
              <a:lnSpc>
                <a:spcPct val="150000"/>
              </a:lnSpc>
              <a:buNone/>
            </a:pPr>
            <a:r>
              <a:rPr lang="en-US" dirty="0" smtClean="0">
                <a:latin typeface="Times New Roman" panose="02020603050405020304" pitchFamily="18" charset="0"/>
                <a:cs typeface="Times New Roman" panose="02020603050405020304" pitchFamily="18" charset="0"/>
              </a:rPr>
              <a:t>         Flask </a:t>
            </a:r>
            <a:r>
              <a:rPr lang="en-US" dirty="0">
                <a:latin typeface="Times New Roman" panose="02020603050405020304" pitchFamily="18" charset="0"/>
                <a:cs typeface="Times New Roman" panose="02020603050405020304" pitchFamily="18" charset="0"/>
              </a:rPr>
              <a:t>is used as the backend framework of the project.</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handles application logic like user requests, authentication, and routing.</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connects the machine learning model with the web interface</a:t>
            </a:r>
            <a:r>
              <a:rPr lang="en-US" dirty="0" smtClean="0">
                <a:latin typeface="Times New Roman" panose="02020603050405020304" pitchFamily="18" charset="0"/>
                <a:cs typeface="Times New Roman" panose="02020603050405020304" pitchFamily="18" charset="0"/>
              </a:rPr>
              <a:t>.</a:t>
            </a:r>
          </a:p>
          <a:p>
            <a:pPr>
              <a:lnSpc>
                <a:spcPct val="150000"/>
              </a:lnSpc>
            </a:pPr>
            <a:r>
              <a:rPr lang="en-US" sz="2200" b="1" dirty="0">
                <a:latin typeface="Times New Roman" panose="02020603050405020304" pitchFamily="18" charset="0"/>
                <a:cs typeface="Times New Roman" panose="02020603050405020304" pitchFamily="18" charset="0"/>
              </a:rPr>
              <a:t>MySQL</a:t>
            </a:r>
          </a:p>
          <a:p>
            <a:pPr marL="0" indent="0">
              <a:lnSpc>
                <a:spcPct val="150000"/>
              </a:lnSpc>
              <a:buNone/>
            </a:pPr>
            <a:r>
              <a:rPr lang="en-US" dirty="0" smtClean="0">
                <a:latin typeface="Times New Roman" panose="02020603050405020304" pitchFamily="18" charset="0"/>
                <a:cs typeface="Times New Roman" panose="02020603050405020304" pitchFamily="18" charset="0"/>
              </a:rPr>
              <a:t>           MySQL </a:t>
            </a:r>
            <a:r>
              <a:rPr lang="en-US" dirty="0">
                <a:latin typeface="Times New Roman" panose="02020603050405020304" pitchFamily="18" charset="0"/>
                <a:cs typeface="Times New Roman" panose="02020603050405020304" pitchFamily="18" charset="0"/>
              </a:rPr>
              <a:t>is used to store data in the system.</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keeps user details, datasets, and prediction results safely.</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ensures structured and secure data management.</a:t>
            </a:r>
          </a:p>
          <a:p>
            <a:pPr>
              <a:lnSpc>
                <a:spcPct val="150000"/>
              </a:lnSpc>
            </a:pPr>
            <a:endParaRPr lang="en-IN" dirty="0"/>
          </a:p>
        </p:txBody>
      </p:sp>
    </p:spTree>
    <p:extLst>
      <p:ext uri="{BB962C8B-B14F-4D97-AF65-F5344CB8AC3E}">
        <p14:creationId xmlns:p14="http://schemas.microsoft.com/office/powerpoint/2010/main" val="728307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1"/>
            <a:ext cx="8596668" cy="706244"/>
          </a:xfrm>
        </p:spPr>
        <p:txBody>
          <a:bodyPr>
            <a:normAutofit/>
          </a:bodyPr>
          <a:lstStyle/>
          <a:p>
            <a:r>
              <a:rPr lang="en-US" sz="2800" dirty="0" smtClean="0">
                <a:latin typeface="Times New Roman" panose="02020603050405020304" pitchFamily="18" charset="0"/>
                <a:cs typeface="Times New Roman" panose="02020603050405020304" pitchFamily="18" charset="0"/>
              </a:rPr>
              <a:t>Design of the Project</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616927"/>
            <a:ext cx="8596668" cy="4424435"/>
          </a:xfrm>
        </p:spPr>
        <p:txBody>
          <a:bodyPr>
            <a:normAutofit/>
          </a:bodyPr>
          <a:lstStyle/>
          <a:p>
            <a:pPr>
              <a:lnSpc>
                <a:spcPct val="150000"/>
              </a:lnSpc>
            </a:pPr>
            <a:r>
              <a:rPr lang="en-US" dirty="0" smtClean="0">
                <a:latin typeface="Times New Roman" panose="02020603050405020304" pitchFamily="18" charset="0"/>
                <a:cs typeface="Times New Roman" panose="02020603050405020304" pitchFamily="18" charset="0"/>
              </a:rPr>
              <a:t>System Architecture</a:t>
            </a:r>
            <a:endParaRPr lang="en-IN" dirty="0" smtClean="0">
              <a:latin typeface="Times New Roman" panose="02020603050405020304" pitchFamily="18" charset="0"/>
              <a:cs typeface="Times New Roman" panose="02020603050405020304" pitchFamily="18" charset="0"/>
            </a:endParaRPr>
          </a:p>
          <a:p>
            <a:pPr>
              <a:lnSpc>
                <a:spcPct val="150000"/>
              </a:lnSpc>
            </a:pPr>
            <a:r>
              <a:rPr lang="en-US" dirty="0" smtClean="0">
                <a:latin typeface="Times New Roman" panose="02020603050405020304" pitchFamily="18" charset="0"/>
                <a:cs typeface="Times New Roman" panose="02020603050405020304" pitchFamily="18" charset="0"/>
              </a:rPr>
              <a:t>Use case diagram</a:t>
            </a:r>
          </a:p>
          <a:p>
            <a:pPr>
              <a:lnSpc>
                <a:spcPct val="150000"/>
              </a:lnSpc>
            </a:pPr>
            <a:r>
              <a:rPr lang="en-US" dirty="0" smtClean="0">
                <a:latin typeface="Times New Roman" panose="02020603050405020304" pitchFamily="18" charset="0"/>
                <a:cs typeface="Times New Roman" panose="02020603050405020304" pitchFamily="18" charset="0"/>
              </a:rPr>
              <a:t>Class diagram</a:t>
            </a:r>
          </a:p>
          <a:p>
            <a:pPr>
              <a:lnSpc>
                <a:spcPct val="150000"/>
              </a:lnSpc>
            </a:pPr>
            <a:r>
              <a:rPr lang="en-US" dirty="0" smtClean="0">
                <a:latin typeface="Times New Roman" panose="02020603050405020304" pitchFamily="18" charset="0"/>
                <a:cs typeface="Times New Roman" panose="02020603050405020304" pitchFamily="18" charset="0"/>
              </a:rPr>
              <a:t>Sequence diagram</a:t>
            </a:r>
          </a:p>
          <a:p>
            <a:pPr>
              <a:lnSpc>
                <a:spcPct val="150000"/>
              </a:lnSpc>
            </a:pPr>
            <a:r>
              <a:rPr lang="en-US" dirty="0" smtClean="0">
                <a:latin typeface="Times New Roman" panose="02020603050405020304" pitchFamily="18" charset="0"/>
                <a:cs typeface="Times New Roman" panose="02020603050405020304" pitchFamily="18" charset="0"/>
              </a:rPr>
              <a:t>Activity diagram</a:t>
            </a:r>
          </a:p>
          <a:p>
            <a:pPr>
              <a:lnSpc>
                <a:spcPct val="150000"/>
              </a:lnSpc>
            </a:pPr>
            <a:r>
              <a:rPr lang="en-US" dirty="0" smtClean="0">
                <a:latin typeface="Times New Roman" panose="02020603050405020304" pitchFamily="18" charset="0"/>
                <a:cs typeface="Times New Roman" panose="02020603050405020304" pitchFamily="18" charset="0"/>
              </a:rPr>
              <a:t>Component diagram</a:t>
            </a:r>
          </a:p>
          <a:p>
            <a:pPr>
              <a:lnSpc>
                <a:spcPct val="150000"/>
              </a:lnSpc>
            </a:pPr>
            <a:r>
              <a:rPr lang="en-US" dirty="0" smtClean="0">
                <a:latin typeface="Times New Roman" panose="02020603050405020304" pitchFamily="18" charset="0"/>
                <a:cs typeface="Times New Roman" panose="02020603050405020304" pitchFamily="18" charset="0"/>
              </a:rPr>
              <a:t>Deployment diagram</a:t>
            </a:r>
          </a:p>
        </p:txBody>
      </p:sp>
    </p:spTree>
    <p:extLst>
      <p:ext uri="{BB962C8B-B14F-4D97-AF65-F5344CB8AC3E}">
        <p14:creationId xmlns:p14="http://schemas.microsoft.com/office/powerpoint/2010/main" val="2800445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4302"/>
          </a:xfrm>
        </p:spPr>
        <p:txBody>
          <a:bodyPr>
            <a:normAutofit/>
          </a:bodyPr>
          <a:lstStyle/>
          <a:p>
            <a:r>
              <a:rPr lang="en-US" sz="2800" dirty="0" smtClean="0">
                <a:latin typeface="Times New Roman" panose="02020603050405020304" pitchFamily="18" charset="0"/>
                <a:cs typeface="Times New Roman" panose="02020603050405020304" pitchFamily="18" charset="0"/>
              </a:rPr>
              <a:t>System Architecture</a:t>
            </a:r>
            <a:endParaRPr lang="en-IN" sz="2800" dirty="0">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2293" y="1873086"/>
            <a:ext cx="8207451" cy="3772227"/>
          </a:xfrm>
          <a:prstGeom prst="rect">
            <a:avLst/>
          </a:prstGeom>
          <a:noFill/>
          <a:ln>
            <a:noFill/>
          </a:ln>
        </p:spPr>
      </p:pic>
    </p:spTree>
    <p:extLst>
      <p:ext uri="{BB962C8B-B14F-4D97-AF65-F5344CB8AC3E}">
        <p14:creationId xmlns:p14="http://schemas.microsoft.com/office/powerpoint/2010/main" val="35009620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17395"/>
          </a:xfrm>
        </p:spPr>
        <p:txBody>
          <a:bodyPr>
            <a:normAutofit/>
          </a:bodyPr>
          <a:lstStyle/>
          <a:p>
            <a:r>
              <a:rPr lang="en-US" sz="2800" dirty="0" smtClean="0">
                <a:latin typeface="Times New Roman" panose="02020603050405020304" pitchFamily="18" charset="0"/>
                <a:cs typeface="Times New Roman" panose="02020603050405020304" pitchFamily="18" charset="0"/>
              </a:rPr>
              <a:t>Use Case diagram</a:t>
            </a:r>
            <a:endParaRPr lang="en-IN" sz="2800" dirty="0">
              <a:latin typeface="Times New Roman" panose="02020603050405020304" pitchFamily="18" charset="0"/>
              <a:cs typeface="Times New Roman" panose="02020603050405020304" pitchFamily="18" charset="0"/>
            </a:endParaRPr>
          </a:p>
        </p:txBody>
      </p:sp>
      <p:pic>
        <p:nvPicPr>
          <p:cNvPr id="4" name="image2.jpeg"/>
          <p:cNvPicPr>
            <a:picLocks noGrp="1"/>
          </p:cNvPicPr>
          <p:nvPr>
            <p:ph idx="1"/>
          </p:nvPr>
        </p:nvPicPr>
        <p:blipFill>
          <a:blip r:embed="rId2" cstate="print"/>
          <a:stretch>
            <a:fillRect/>
          </a:stretch>
        </p:blipFill>
        <p:spPr>
          <a:xfrm>
            <a:off x="1811498" y="1563766"/>
            <a:ext cx="4321822" cy="4500562"/>
          </a:xfrm>
          <a:prstGeom prst="rect">
            <a:avLst/>
          </a:prstGeom>
        </p:spPr>
      </p:pic>
    </p:spTree>
    <p:extLst>
      <p:ext uri="{BB962C8B-B14F-4D97-AF65-F5344CB8AC3E}">
        <p14:creationId xmlns:p14="http://schemas.microsoft.com/office/powerpoint/2010/main" val="27583667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95454"/>
          </a:xfrm>
        </p:spPr>
        <p:txBody>
          <a:bodyPr>
            <a:normAutofit/>
          </a:bodyPr>
          <a:lstStyle/>
          <a:p>
            <a:r>
              <a:rPr lang="en-US" sz="2800" dirty="0" smtClean="0">
                <a:latin typeface="Times New Roman" panose="02020603050405020304" pitchFamily="18" charset="0"/>
                <a:cs typeface="Times New Roman" panose="02020603050405020304" pitchFamily="18" charset="0"/>
              </a:rPr>
              <a:t>Class diagram</a:t>
            </a:r>
            <a:endParaRPr lang="en-IN" sz="2800" dirty="0">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6="http://schemas.microsoft.com/office/drawing/2014/main" xmlns:lc="http://schemas.openxmlformats.org/drawingml/2006/lockedCanvas" id="{1C9F0834-B940-8044-6589-B4BEEF118072}"/>
              </a:ext>
            </a:extLst>
          </p:cNvPr>
          <p:cNvPicPr>
            <a:picLocks noGrp="1"/>
          </p:cNvPicPr>
          <p:nvPr>
            <p:ph idx="1"/>
          </p:nvPr>
        </p:nvPicPr>
        <p:blipFill>
          <a:blip r:embed="rId2"/>
          <a:stretch>
            <a:fillRect/>
          </a:stretch>
        </p:blipFill>
        <p:spPr bwMode="auto">
          <a:xfrm>
            <a:off x="1482794" y="1278925"/>
            <a:ext cx="7341325" cy="3832157"/>
          </a:xfrm>
          <a:prstGeom prst="rect">
            <a:avLst/>
          </a:prstGeom>
          <a:noFill/>
          <a:ln w="9525">
            <a:noFill/>
            <a:miter lim="800000"/>
            <a:headEnd/>
            <a:tailEnd/>
          </a:ln>
        </p:spPr>
      </p:pic>
    </p:spTree>
    <p:extLst>
      <p:ext uri="{BB962C8B-B14F-4D97-AF65-F5344CB8AC3E}">
        <p14:creationId xmlns:p14="http://schemas.microsoft.com/office/powerpoint/2010/main" val="36996078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95454"/>
          </a:xfrm>
        </p:spPr>
        <p:txBody>
          <a:bodyPr>
            <a:normAutofit/>
          </a:bodyPr>
          <a:lstStyle/>
          <a:p>
            <a:r>
              <a:rPr lang="en-US" sz="2800" dirty="0" smtClean="0">
                <a:latin typeface="Times New Roman" panose="02020603050405020304" pitchFamily="18" charset="0"/>
                <a:cs typeface="Times New Roman" panose="02020603050405020304" pitchFamily="18" charset="0"/>
              </a:rPr>
              <a:t>Sequence diagram</a:t>
            </a:r>
            <a:endParaRPr lang="en-IN" sz="2800" dirty="0">
              <a:latin typeface="Times New Roman" panose="02020603050405020304" pitchFamily="18" charset="0"/>
              <a:cs typeface="Times New Roman" panose="02020603050405020304" pitchFamily="18" charset="0"/>
            </a:endParaRPr>
          </a:p>
        </p:txBody>
      </p:sp>
      <p:pic>
        <p:nvPicPr>
          <p:cNvPr id="4" name="Content Placeholder 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79652" y="1569389"/>
            <a:ext cx="6812870" cy="4229467"/>
          </a:xfrm>
          <a:prstGeom prst="rect">
            <a:avLst/>
          </a:prstGeom>
          <a:noFill/>
          <a:ln>
            <a:noFill/>
          </a:ln>
        </p:spPr>
      </p:pic>
    </p:spTree>
    <p:extLst>
      <p:ext uri="{BB962C8B-B14F-4D97-AF65-F5344CB8AC3E}">
        <p14:creationId xmlns:p14="http://schemas.microsoft.com/office/powerpoint/2010/main" val="9838263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2790"/>
          </a:xfrm>
        </p:spPr>
        <p:txBody>
          <a:bodyPr>
            <a:normAutofit/>
          </a:bodyPr>
          <a:lstStyle/>
          <a:p>
            <a:r>
              <a:rPr lang="en-US" sz="2800" dirty="0" smtClean="0">
                <a:latin typeface="Times New Roman" panose="02020603050405020304" pitchFamily="18" charset="0"/>
                <a:cs typeface="Times New Roman" panose="02020603050405020304" pitchFamily="18" charset="0"/>
              </a:rPr>
              <a:t>Activity diagram</a:t>
            </a:r>
            <a:endParaRPr lang="en-IN" sz="2800" dirty="0">
              <a:latin typeface="Times New Roman" panose="02020603050405020304" pitchFamily="18" charset="0"/>
              <a:cs typeface="Times New Roman" panose="02020603050405020304" pitchFamily="18" charset="0"/>
            </a:endParaRPr>
          </a:p>
        </p:txBody>
      </p:sp>
      <p:pic>
        <p:nvPicPr>
          <p:cNvPr id="4" name="Content Placeholder 6">
            <a:extLst>
              <a:ext uri="{FF2B5EF4-FFF2-40B4-BE49-F238E27FC236}">
                <a16:creationId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6="http://schemas.microsoft.com/office/drawing/2014/main" xmlns:lc="http://schemas.openxmlformats.org/drawingml/2006/lockedCanvas" id="{2390021A-DA49-4B05-8A8D-B379C4A1F302}"/>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27450" y="1484661"/>
            <a:ext cx="7296436" cy="4657725"/>
          </a:xfrm>
          <a:prstGeom prst="rect">
            <a:avLst/>
          </a:prstGeom>
          <a:noFill/>
          <a:ln>
            <a:noFill/>
          </a:ln>
        </p:spPr>
      </p:pic>
    </p:spTree>
    <p:extLst>
      <p:ext uri="{BB962C8B-B14F-4D97-AF65-F5344CB8AC3E}">
        <p14:creationId xmlns:p14="http://schemas.microsoft.com/office/powerpoint/2010/main" val="19832498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95093"/>
          </a:xfrm>
        </p:spPr>
        <p:txBody>
          <a:bodyPr>
            <a:normAutofit/>
          </a:bodyPr>
          <a:lstStyle/>
          <a:p>
            <a:r>
              <a:rPr lang="en-US" sz="2800" dirty="0" smtClean="0">
                <a:latin typeface="Times New Roman" panose="02020603050405020304" pitchFamily="18" charset="0"/>
                <a:cs typeface="Times New Roman" panose="02020603050405020304" pitchFamily="18" charset="0"/>
              </a:rPr>
              <a:t>Component diagram</a:t>
            </a:r>
            <a:endParaRPr lang="en-IN" sz="2800" dirty="0">
              <a:latin typeface="Times New Roman" panose="02020603050405020304" pitchFamily="18" charset="0"/>
              <a:cs typeface="Times New Roman" panose="02020603050405020304" pitchFamily="18" charset="0"/>
            </a:endParaRPr>
          </a:p>
        </p:txBody>
      </p:sp>
      <p:pic>
        <p:nvPicPr>
          <p:cNvPr id="4" name="image6.png"/>
          <p:cNvPicPr>
            <a:picLocks noGrp="1"/>
          </p:cNvPicPr>
          <p:nvPr>
            <p:ph idx="1"/>
          </p:nvPr>
        </p:nvPicPr>
        <p:blipFill>
          <a:blip r:embed="rId2" cstate="print"/>
          <a:stretch>
            <a:fillRect/>
          </a:stretch>
        </p:blipFill>
        <p:spPr>
          <a:xfrm>
            <a:off x="939184" y="1463907"/>
            <a:ext cx="4728303" cy="4645025"/>
          </a:xfrm>
          <a:prstGeom prst="rect">
            <a:avLst/>
          </a:prstGeom>
        </p:spPr>
      </p:pic>
    </p:spTree>
    <p:extLst>
      <p:ext uri="{BB962C8B-B14F-4D97-AF65-F5344CB8AC3E}">
        <p14:creationId xmlns:p14="http://schemas.microsoft.com/office/powerpoint/2010/main" val="34675266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40420"/>
          </a:xfrm>
        </p:spPr>
        <p:txBody>
          <a:bodyPr>
            <a:normAutofit/>
          </a:bodyPr>
          <a:lstStyle/>
          <a:p>
            <a:r>
              <a:rPr lang="en-US" sz="2800" dirty="0" smtClean="0">
                <a:latin typeface="Times New Roman" panose="02020603050405020304" pitchFamily="18" charset="0"/>
                <a:cs typeface="Times New Roman" panose="02020603050405020304" pitchFamily="18" charset="0"/>
              </a:rPr>
              <a:t>Deployment diagram</a:t>
            </a:r>
            <a:endParaRPr lang="en-IN" sz="2800" dirty="0">
              <a:latin typeface="Times New Roman" panose="02020603050405020304" pitchFamily="18" charset="0"/>
              <a:cs typeface="Times New Roman" panose="02020603050405020304" pitchFamily="18" charset="0"/>
            </a:endParaRPr>
          </a:p>
        </p:txBody>
      </p:sp>
      <p:pic>
        <p:nvPicPr>
          <p:cNvPr id="4" name="image7.png"/>
          <p:cNvPicPr>
            <a:picLocks noGrp="1"/>
          </p:cNvPicPr>
          <p:nvPr>
            <p:ph idx="1"/>
          </p:nvPr>
        </p:nvPicPr>
        <p:blipFill>
          <a:blip r:embed="rId2" cstate="print"/>
          <a:stretch>
            <a:fillRect/>
          </a:stretch>
        </p:blipFill>
        <p:spPr>
          <a:xfrm>
            <a:off x="1418755" y="1411882"/>
            <a:ext cx="6453050" cy="4435475"/>
          </a:xfrm>
          <a:prstGeom prst="rect">
            <a:avLst/>
          </a:prstGeom>
        </p:spPr>
      </p:pic>
    </p:spTree>
    <p:extLst>
      <p:ext uri="{BB962C8B-B14F-4D97-AF65-F5344CB8AC3E}">
        <p14:creationId xmlns:p14="http://schemas.microsoft.com/office/powerpoint/2010/main" val="97601217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2790"/>
          </a:xfrm>
        </p:spPr>
        <p:txBody>
          <a:bodyPr>
            <a:normAutofit/>
          </a:bodyPr>
          <a:lstStyle/>
          <a:p>
            <a:r>
              <a:rPr lang="en-US" sz="2800" dirty="0" smtClean="0"/>
              <a:t>I</a:t>
            </a:r>
            <a:r>
              <a:rPr lang="en-US" sz="2800" dirty="0" smtClean="0">
                <a:latin typeface="Times New Roman" panose="02020603050405020304" pitchFamily="18" charset="0"/>
                <a:cs typeface="Times New Roman" panose="02020603050405020304" pitchFamily="18" charset="0"/>
              </a:rPr>
              <a:t>mplementation Details</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07961" y="1364190"/>
            <a:ext cx="726488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Dataset Upload</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Twitter dataset is loaded into the system </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Removes noise, unwanted symbols, missing values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Cleans text data </a:t>
            </a:r>
          </a:p>
          <a:p>
            <a:pPr marL="0" marR="0" lvl="0" indent="0" algn="l" defTabSz="914400" rtl="0" eaLnBrk="0" fontAlgn="base" latinLnBrk="0" hangingPunct="0">
              <a:lnSpc>
                <a:spcPct val="150000"/>
              </a:lnSpc>
              <a:spcBef>
                <a:spcPct val="0"/>
              </a:spcBef>
              <a:spcAft>
                <a:spcPct val="0"/>
              </a:spcAft>
              <a:buClrTx/>
              <a:buSzTx/>
              <a:buNone/>
              <a:tabLst/>
            </a:pP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Feature Extraction</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Extracts important features like: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URL characteristics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tweet content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behavior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83505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677863" y="382079"/>
            <a:ext cx="7630114" cy="6047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Training Models</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 is split into training and testing sets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Algorithms are trained using training data </a:t>
            </a:r>
          </a:p>
          <a:p>
            <a:pPr marL="0" marR="0" lvl="0" indent="0" algn="l" defTabSz="914400" rtl="0" eaLnBrk="0" fontAlgn="base" latinLnBrk="0" hangingPunct="0">
              <a:lnSpc>
                <a:spcPct val="150000"/>
              </a:lnSpc>
              <a:spcBef>
                <a:spcPct val="0"/>
              </a:spcBef>
              <a:spcAft>
                <a:spcPct val="0"/>
              </a:spcAft>
              <a:buClrTx/>
              <a:buSzTx/>
              <a:buNone/>
              <a:tabLst/>
            </a:pPr>
            <a:endPar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Prediction</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Test data is used to predict fake or real accounts</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Evaluation</a:t>
            </a:r>
            <a:r>
              <a:rPr kumimoji="0" lang="en-US" sz="22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Accuracy is measured using: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Precision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Recall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F1-score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Cross-validation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79814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05883"/>
          </a:xfrm>
        </p:spPr>
        <p:txBody>
          <a:bodyPr>
            <a:normAutofit/>
          </a:bodyPr>
          <a:lstStyle/>
          <a:p>
            <a:r>
              <a:rPr lang="en-US" sz="2800" dirty="0" smtClean="0">
                <a:latin typeface="Times New Roman" panose="02020603050405020304" pitchFamily="18" charset="0"/>
                <a:cs typeface="Times New Roman" panose="02020603050405020304" pitchFamily="18" charset="0"/>
              </a:rPr>
              <a:t>Sample code</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423851"/>
            <a:ext cx="8596668" cy="4617511"/>
          </a:xfrm>
        </p:spPr>
        <p:txBody>
          <a:bodyPr>
            <a:normAutofit/>
          </a:bodyPr>
          <a:lstStyle/>
          <a:p>
            <a:pPr marL="0" indent="0">
              <a:buNone/>
            </a:pPr>
            <a:r>
              <a:rPr lang="en-IN" sz="1200" dirty="0">
                <a:latin typeface="Times New Roman" panose="02020603050405020304" pitchFamily="18" charset="0"/>
                <a:cs typeface="Times New Roman" panose="02020603050405020304" pitchFamily="18" charset="0"/>
              </a:rPr>
              <a:t># Import Libraries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import numpy as np</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import pandas as pd</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Preprocessing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sklearn.model_selection import train_test_split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sklearn.preprocessing import StandardScaler</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ML Algorithms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sklearn.linear_model import LogisticRegression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sklearn.ensemble import RandomForestClassifier</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Evaluation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sklearn.metrics import accuracy_score, classification_report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ANN (Deep Learning)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tensorflow.keras.models import Sequential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from tensorflow.keras.layers import Dense</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Load Dataset (example CSV file)</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data = pd.read_csv("fake_account_dataset.csv")</a:t>
            </a:r>
          </a:p>
        </p:txBody>
      </p:sp>
    </p:spTree>
    <p:extLst>
      <p:ext uri="{BB962C8B-B14F-4D97-AF65-F5344CB8AC3E}">
        <p14:creationId xmlns:p14="http://schemas.microsoft.com/office/powerpoint/2010/main" val="4256889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38146" y="1045029"/>
            <a:ext cx="8596668" cy="5179213"/>
          </a:xfrm>
        </p:spPr>
        <p:txBody>
          <a:bodyPr>
            <a:normAutofit/>
          </a:bodyPr>
          <a:lstStyle/>
          <a:p>
            <a:pPr marL="0" indent="0">
              <a:buNone/>
            </a:pPr>
            <a:r>
              <a:rPr lang="en-IN" sz="1200" dirty="0">
                <a:latin typeface="Times New Roman" panose="02020603050405020304" pitchFamily="18" charset="0"/>
                <a:cs typeface="Times New Roman" panose="02020603050405020304" pitchFamily="18" charset="0"/>
              </a:rPr>
              <a:t># Features and Labels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X = data.drop("label", axis=1) # Features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y = data["label"] # 0 = Real, 1 = Fake</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Split Data (80% train, 20% test)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X_train, X_test, y_train, y_test = train_test_split(X, y, test_size=0.2, random_state=42)</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Feature Scaling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scaler = StandardScaler()</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X_train = scaler.fit_transform(X_train)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X_test = scaler.transform(X_test)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1. Logistic Regression Model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lr_model = LogisticRegression()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lr_model.fit(X_train, y_train)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lr_pred = lr_model.predict(X_test)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print("Logistic Regression Accuracy:", accuracy_score(y_test, lr_pred))</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print(classification_report(y_test, lr_pred))</a:t>
            </a:r>
          </a:p>
        </p:txBody>
      </p:sp>
    </p:spTree>
    <p:extLst>
      <p:ext uri="{BB962C8B-B14F-4D97-AF65-F5344CB8AC3E}">
        <p14:creationId xmlns:p14="http://schemas.microsoft.com/office/powerpoint/2010/main" val="341480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0397" y="431076"/>
            <a:ext cx="8596668" cy="5492722"/>
          </a:xfrm>
        </p:spPr>
        <p:txBody>
          <a:bodyPr>
            <a:normAutofit/>
          </a:bodyPr>
          <a:lstStyle/>
          <a:p>
            <a:pPr marL="0" indent="0">
              <a:buNone/>
            </a:pPr>
            <a:r>
              <a:rPr lang="en-IN" sz="1200" dirty="0">
                <a:latin typeface="Times New Roman" panose="02020603050405020304" pitchFamily="18" charset="0"/>
                <a:cs typeface="Times New Roman" panose="02020603050405020304" pitchFamily="18" charset="0"/>
              </a:rPr>
              <a:t># 2. Random Forest Model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rf_model = RandomForestClassifier()</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rf_model.fit(X_train, y_train)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rf_pred = rf_model.predict(X_test)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print("Random Forest Accuracy:", accuracy_score(y_test, rf_pred))</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3. ANN Model (Based on Document)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ann_model = Sequential()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Input + Hidden Layers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ann_model.add(Dense(units=16, activation='</a:t>
            </a:r>
            <a:r>
              <a:rPr lang="en-IN" sz="1200" dirty="0" err="1">
                <a:latin typeface="Times New Roman" panose="02020603050405020304" pitchFamily="18" charset="0"/>
                <a:cs typeface="Times New Roman" panose="02020603050405020304" pitchFamily="18" charset="0"/>
              </a:rPr>
              <a:t>relu</a:t>
            </a:r>
            <a:r>
              <a:rPr lang="en-IN" sz="1200" dirty="0">
                <a:latin typeface="Times New Roman" panose="02020603050405020304" pitchFamily="18" charset="0"/>
                <a:cs typeface="Times New Roman" panose="02020603050405020304" pitchFamily="18" charset="0"/>
              </a:rPr>
              <a:t>', input_dim=X_train.shape[1]))</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ann_model.add(Dense(units=8, activation='</a:t>
            </a:r>
            <a:r>
              <a:rPr lang="en-IN" sz="1200" dirty="0" err="1">
                <a:latin typeface="Times New Roman" panose="02020603050405020304" pitchFamily="18" charset="0"/>
                <a:cs typeface="Times New Roman" panose="02020603050405020304" pitchFamily="18" charset="0"/>
              </a:rPr>
              <a:t>relu</a:t>
            </a:r>
            <a:r>
              <a:rPr lang="en-IN" sz="1200" dirty="0">
                <a:latin typeface="Times New Roman" panose="02020603050405020304" pitchFamily="18" charset="0"/>
                <a:cs typeface="Times New Roman" panose="02020603050405020304" pitchFamily="18" charset="0"/>
              </a:rPr>
              <a: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Output Layer</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ann_model.add(Dense(units=1, activation='sigmoid'))</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Compile Model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ann_model.compile(optimizer='</a:t>
            </a:r>
            <a:r>
              <a:rPr lang="en-IN" sz="1200" dirty="0" err="1">
                <a:latin typeface="Times New Roman" panose="02020603050405020304" pitchFamily="18" charset="0"/>
                <a:cs typeface="Times New Roman" panose="02020603050405020304" pitchFamily="18" charset="0"/>
              </a:rPr>
              <a:t>adam</a:t>
            </a:r>
            <a:r>
              <a:rPr lang="en-IN" sz="1200" dirty="0">
                <a:latin typeface="Times New Roman" panose="02020603050405020304" pitchFamily="18" charset="0"/>
                <a:cs typeface="Times New Roman" panose="02020603050405020304" pitchFamily="18" charset="0"/>
              </a:rPr>
              <a:t>', loss='</a:t>
            </a:r>
            <a:r>
              <a:rPr lang="en-IN" sz="1200" dirty="0" err="1">
                <a:latin typeface="Times New Roman" panose="02020603050405020304" pitchFamily="18" charset="0"/>
                <a:cs typeface="Times New Roman" panose="02020603050405020304" pitchFamily="18" charset="0"/>
              </a:rPr>
              <a:t>binary_crossentropy</a:t>
            </a:r>
            <a:r>
              <a:rPr lang="en-IN" sz="1200" dirty="0">
                <a:latin typeface="Times New Roman" panose="02020603050405020304" pitchFamily="18" charset="0"/>
                <a:cs typeface="Times New Roman" panose="02020603050405020304" pitchFamily="18" charset="0"/>
              </a:rPr>
              <a:t>', metrics=['accuracy'])</a:t>
            </a:r>
            <a:br>
              <a:rPr lang="en-IN"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322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640081"/>
            <a:ext cx="8596668" cy="5401282"/>
          </a:xfrm>
        </p:spPr>
        <p:txBody>
          <a:bodyPr>
            <a:normAutofit/>
          </a:bodyPr>
          <a:lstStyle/>
          <a:p>
            <a:pPr marL="0" indent="0">
              <a:buNone/>
            </a:pPr>
            <a:r>
              <a:rPr lang="en-IN" sz="1200" dirty="0">
                <a:latin typeface="Times New Roman" panose="02020603050405020304" pitchFamily="18" charset="0"/>
                <a:cs typeface="Times New Roman" panose="02020603050405020304" pitchFamily="18" charset="0"/>
              </a:rPr>
              <a:t># Train Model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ann_model.fit(X_train, y_train, epochs=20, batch_size=32)</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Evaluate Model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loss, acc = ann_model.evaluate(X_test, y_test)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print("ANN Accuracy:", acc)</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4. Prediction Example</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sample_input = X_test[0].reshape(1, -1)</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prediction = ann_model.predict(sample_input)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if prediction &gt; 0.5:</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print("Fake Account")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else:</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print("Real Account")</a:t>
            </a:r>
          </a:p>
        </p:txBody>
      </p:sp>
    </p:spTree>
    <p:extLst>
      <p:ext uri="{BB962C8B-B14F-4D97-AF65-F5344CB8AC3E}">
        <p14:creationId xmlns:p14="http://schemas.microsoft.com/office/powerpoint/2010/main" val="3933563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50488"/>
          </a:xfrm>
        </p:spPr>
        <p:txBody>
          <a:bodyPr>
            <a:normAutofit/>
          </a:bodyPr>
          <a:lstStyle/>
          <a:p>
            <a:r>
              <a:rPr lang="en-US" sz="2800" dirty="0" smtClean="0">
                <a:latin typeface="Times New Roman" panose="02020603050405020304" pitchFamily="18" charset="0"/>
                <a:cs typeface="Times New Roman" panose="02020603050405020304" pitchFamily="18" charset="0"/>
              </a:rPr>
              <a:t>Testing </a:t>
            </a:r>
            <a:r>
              <a:rPr lang="en-US" sz="2800" dirty="0" err="1" smtClean="0">
                <a:latin typeface="Times New Roman" panose="02020603050405020304" pitchFamily="18" charset="0"/>
                <a:cs typeface="Times New Roman" panose="02020603050405020304" pitchFamily="18" charset="0"/>
              </a:rPr>
              <a:t>Stratagies</a:t>
            </a:r>
            <a:r>
              <a:rPr lang="en-US" sz="2800" dirty="0" smtClean="0">
                <a:latin typeface="Times New Roman" panose="02020603050405020304" pitchFamily="18" charset="0"/>
                <a:cs typeface="Times New Roman" panose="02020603050405020304" pitchFamily="18" charset="0"/>
              </a:rPr>
              <a:t> used</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4" y="1737359"/>
            <a:ext cx="8596668" cy="4362995"/>
          </a:xfrm>
        </p:spPr>
        <p:txBody>
          <a:bodyPr>
            <a:normAutofit/>
          </a:bodyPr>
          <a:lstStyle/>
          <a:p>
            <a:pPr algn="just">
              <a:lnSpc>
                <a:spcPct val="150000"/>
              </a:lnSpc>
            </a:pPr>
            <a:r>
              <a:rPr lang="en-US" sz="2200" b="1" dirty="0">
                <a:latin typeface="Times New Roman" panose="02020603050405020304" pitchFamily="18" charset="0"/>
                <a:cs typeface="Times New Roman" panose="02020603050405020304" pitchFamily="18" charset="0"/>
              </a:rPr>
              <a:t>Test Case Testing</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       Test </a:t>
            </a:r>
            <a:r>
              <a:rPr lang="en-US" dirty="0">
                <a:latin typeface="Times New Roman" panose="02020603050405020304" pitchFamily="18" charset="0"/>
                <a:cs typeface="Times New Roman" panose="02020603050405020304" pitchFamily="18" charset="0"/>
              </a:rPr>
              <a:t>cases are used to check each function like data upload, preprocessing, </a:t>
            </a:r>
            <a:r>
              <a:rPr lang="en-US" dirty="0" smtClean="0">
                <a:latin typeface="Times New Roman" panose="02020603050405020304" pitchFamily="18" charset="0"/>
                <a:cs typeface="Times New Roman" panose="02020603050405020304" pitchFamily="18" charset="0"/>
              </a:rPr>
              <a:t>  and 	prediction</a:t>
            </a:r>
            <a:r>
              <a:rPr lang="en-US" dirty="0">
                <a:latin typeface="Times New Roman" panose="02020603050405020304" pitchFamily="18" charset="0"/>
                <a:cs typeface="Times New Roman" panose="02020603050405020304" pitchFamily="18" charset="0"/>
              </a:rPr>
              <a:t>. </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ensures that every part of the system works correctly. </a:t>
            </a:r>
            <a:endParaRPr lang="en-US" dirty="0" smtClean="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sz="2200" b="1" dirty="0">
                <a:latin typeface="Times New Roman" panose="02020603050405020304" pitchFamily="18" charset="0"/>
                <a:cs typeface="Times New Roman" panose="02020603050405020304" pitchFamily="18" charset="0"/>
              </a:rPr>
              <a:t>Performance Testing</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model is evaluated using accuracy, precision, recall, and F1-score. </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helps to measure how well the system detects fake accounts. </a:t>
            </a:r>
          </a:p>
          <a:p>
            <a:pPr marL="0" indent="0">
              <a:lnSpc>
                <a:spcPct val="200000"/>
              </a:lnSpc>
              <a:buNone/>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04172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227909"/>
            <a:ext cx="8596668" cy="4813453"/>
          </a:xfrm>
        </p:spPr>
        <p:txBody>
          <a:bodyPr>
            <a:normAutofit/>
          </a:bodyPr>
          <a:lstStyle/>
          <a:p>
            <a:pPr>
              <a:lnSpc>
                <a:spcPct val="150000"/>
              </a:lnSpc>
            </a:pPr>
            <a:r>
              <a:rPr lang="en-US" sz="2200" b="1" dirty="0">
                <a:latin typeface="Times New Roman" panose="02020603050405020304" pitchFamily="18" charset="0"/>
                <a:cs typeface="Times New Roman" panose="02020603050405020304" pitchFamily="18" charset="0"/>
              </a:rPr>
              <a:t>Cross Validation Testing</a:t>
            </a:r>
          </a:p>
          <a:p>
            <a:pPr marL="0" indent="0" algn="just">
              <a:lnSpc>
                <a:spcPct val="150000"/>
              </a:lnSpc>
              <a:buNone/>
            </a:pP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system uses 10-fold cross validation to test the model multiple times. </a:t>
            </a:r>
            <a:endParaRPr lang="en-US" dirty="0" smtClean="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improves reliability and avoids </a:t>
            </a:r>
            <a:r>
              <a:rPr lang="en-US" dirty="0" err="1">
                <a:latin typeface="Times New Roman" panose="02020603050405020304" pitchFamily="18" charset="0"/>
                <a:cs typeface="Times New Roman" panose="02020603050405020304" pitchFamily="18" charset="0"/>
              </a:rPr>
              <a:t>overfitting</a:t>
            </a:r>
            <a:r>
              <a:rPr lang="en-US" dirty="0">
                <a:latin typeface="Times New Roman" panose="02020603050405020304" pitchFamily="18" charset="0"/>
                <a:cs typeface="Times New Roman" panose="02020603050405020304" pitchFamily="18" charset="0"/>
              </a:rPr>
              <a:t>. </a:t>
            </a:r>
          </a:p>
          <a:p>
            <a:pPr marL="0" indent="0">
              <a:lnSpc>
                <a:spcPct val="150000"/>
              </a:lnSpc>
              <a:buNone/>
            </a:pPr>
            <a:endParaRPr lang="en-US" dirty="0" smtClean="0">
              <a:latin typeface="Times New Roman" panose="02020603050405020304" pitchFamily="18" charset="0"/>
              <a:cs typeface="Times New Roman" panose="02020603050405020304" pitchFamily="18" charset="0"/>
            </a:endParaRPr>
          </a:p>
          <a:p>
            <a:pPr>
              <a:lnSpc>
                <a:spcPct val="150000"/>
              </a:lnSpc>
            </a:pPr>
            <a:r>
              <a:rPr lang="en-US" sz="2200" b="1" dirty="0">
                <a:latin typeface="Times New Roman" panose="02020603050405020304" pitchFamily="18" charset="0"/>
                <a:cs typeface="Times New Roman" panose="02020603050405020304" pitchFamily="18" charset="0"/>
              </a:rPr>
              <a:t>Confusion Matrix Testing</a:t>
            </a:r>
          </a:p>
          <a:p>
            <a:pPr marL="0" indent="0">
              <a:lnSpc>
                <a:spcPct val="150000"/>
              </a:lnSpc>
              <a:buNone/>
            </a:pP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checks prediction results using TP, TN, FP, and FN values. </a:t>
            </a:r>
          </a:p>
          <a:p>
            <a:pPr marL="0" indent="0">
              <a:lnSpc>
                <a:spcPct val="150000"/>
              </a:lnSpc>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It </a:t>
            </a:r>
            <a:r>
              <a:rPr lang="en-US" dirty="0">
                <a:latin typeface="Times New Roman" panose="02020603050405020304" pitchFamily="18" charset="0"/>
                <a:cs typeface="Times New Roman" panose="02020603050405020304" pitchFamily="18" charset="0"/>
              </a:rPr>
              <a:t>helps to understand errors and correctness of the model. </a:t>
            </a:r>
          </a:p>
          <a:p>
            <a:pPr marL="0" indent="0">
              <a:lnSpc>
                <a:spcPct val="200000"/>
              </a:lnSpc>
              <a:buNone/>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084900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9337"/>
          </a:xfrm>
        </p:spPr>
        <p:txBody>
          <a:bodyPr>
            <a:normAutofit/>
          </a:bodyPr>
          <a:lstStyle/>
          <a:p>
            <a:r>
              <a:rPr lang="en-US" sz="2800" dirty="0" smtClean="0">
                <a:latin typeface="Times New Roman" panose="02020603050405020304" pitchFamily="18" charset="0"/>
                <a:cs typeface="Times New Roman" panose="02020603050405020304" pitchFamily="18" charset="0"/>
              </a:rPr>
              <a:t>Test cases</a:t>
            </a:r>
            <a:endParaRPr lang="en-IN" sz="28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71088730"/>
              </p:ext>
            </p:extLst>
          </p:nvPr>
        </p:nvGraphicFramePr>
        <p:xfrm>
          <a:off x="1476103" y="1397726"/>
          <a:ext cx="8177348" cy="3561783"/>
        </p:xfrm>
        <a:graphic>
          <a:graphicData uri="http://schemas.openxmlformats.org/drawingml/2006/table">
            <a:tbl>
              <a:tblPr firstRow="1" firstCol="1" lastRow="1" lastCol="1" bandRow="1" bandCol="1">
                <a:tableStyleId>{5C22544A-7EE6-4342-B048-85BDC9FD1C3A}</a:tableStyleId>
              </a:tblPr>
              <a:tblGrid>
                <a:gridCol w="493071"/>
                <a:gridCol w="868074"/>
                <a:gridCol w="884846"/>
                <a:gridCol w="963334"/>
                <a:gridCol w="1023041"/>
                <a:gridCol w="1071154"/>
                <a:gridCol w="1097280"/>
                <a:gridCol w="1776548"/>
              </a:tblGrid>
              <a:tr h="1543118">
                <a:tc rowSpan="2">
                  <a:txBody>
                    <a:bodyPr/>
                    <a:lstStyle/>
                    <a:p>
                      <a:pPr marL="68580" marR="125095" algn="just">
                        <a:lnSpc>
                          <a:spcPct val="150000"/>
                        </a:lnSpc>
                        <a:spcBef>
                          <a:spcPts val="5"/>
                        </a:spcBef>
                        <a:spcAft>
                          <a:spcPts val="0"/>
                        </a:spcAft>
                      </a:pPr>
                      <a:r>
                        <a:rPr lang="en-US" sz="1200" dirty="0">
                          <a:effectLst/>
                        </a:rPr>
                        <a:t>Test</a:t>
                      </a:r>
                      <a:r>
                        <a:rPr lang="en-US" sz="1200" spc="5" dirty="0">
                          <a:effectLst/>
                        </a:rPr>
                        <a:t> </a:t>
                      </a:r>
                      <a:r>
                        <a:rPr lang="en-US" sz="1200" dirty="0">
                          <a:effectLst/>
                        </a:rPr>
                        <a:t>Case</a:t>
                      </a:r>
                      <a:r>
                        <a:rPr lang="en-US" sz="1200" spc="-70" dirty="0">
                          <a:effectLst/>
                        </a:rPr>
                        <a:t> </a:t>
                      </a:r>
                      <a:r>
                        <a:rPr lang="en-US" sz="1200" dirty="0">
                          <a:effectLst/>
                        </a:rPr>
                        <a:t>Id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67945" marR="60325" algn="just">
                        <a:lnSpc>
                          <a:spcPct val="150000"/>
                        </a:lnSpc>
                        <a:spcBef>
                          <a:spcPts val="5"/>
                        </a:spcBef>
                        <a:spcAft>
                          <a:spcPts val="0"/>
                        </a:spcAft>
                      </a:pPr>
                      <a:r>
                        <a:rPr lang="en-US" sz="1200">
                          <a:effectLst/>
                        </a:rPr>
                        <a:t>Test</a:t>
                      </a:r>
                      <a:r>
                        <a:rPr lang="en-US" sz="1200" spc="40">
                          <a:effectLst/>
                        </a:rPr>
                        <a:t> </a:t>
                      </a:r>
                      <a:r>
                        <a:rPr lang="en-US" sz="1200">
                          <a:effectLst/>
                        </a:rPr>
                        <a:t>Case</a:t>
                      </a:r>
                      <a:r>
                        <a:rPr lang="en-US" sz="1200" spc="-285">
                          <a:effectLst/>
                        </a:rPr>
                        <a:t> </a:t>
                      </a:r>
                      <a:r>
                        <a:rPr lang="en-US" sz="1200">
                          <a:effectLst/>
                        </a:rPr>
                        <a:t>Name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66675" algn="just">
                        <a:lnSpc>
                          <a:spcPct val="150000"/>
                        </a:lnSpc>
                        <a:spcBef>
                          <a:spcPts val="5"/>
                        </a:spcBef>
                        <a:spcAft>
                          <a:spcPts val="0"/>
                        </a:spcAft>
                      </a:pPr>
                      <a:r>
                        <a:rPr lang="en-US" sz="1200">
                          <a:effectLst/>
                        </a:rPr>
                        <a:t>Test</a:t>
                      </a:r>
                      <a:r>
                        <a:rPr lang="en-US" sz="1200" spc="170">
                          <a:effectLst/>
                        </a:rPr>
                        <a:t> </a:t>
                      </a:r>
                      <a:r>
                        <a:rPr lang="en-US" sz="1200">
                          <a:effectLst/>
                        </a:rPr>
                        <a:t>Case</a:t>
                      </a:r>
                      <a:r>
                        <a:rPr lang="en-US" sz="1200" spc="-285">
                          <a:effectLst/>
                        </a:rPr>
                        <a:t> </a:t>
                      </a:r>
                      <a:r>
                        <a:rPr lang="en-US" sz="1200">
                          <a:effectLst/>
                        </a:rPr>
                        <a:t>Desc.</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gridSpan="3">
                  <a:txBody>
                    <a:bodyPr/>
                    <a:lstStyle/>
                    <a:p>
                      <a:pPr marL="937895" marR="937895" algn="just">
                        <a:spcBef>
                          <a:spcPts val="5"/>
                        </a:spcBef>
                        <a:spcAft>
                          <a:spcPts val="0"/>
                        </a:spcAft>
                      </a:pPr>
                      <a:r>
                        <a:rPr lang="en-US" sz="1200" dirty="0">
                          <a:effectLst/>
                        </a:rPr>
                        <a:t>Test</a:t>
                      </a:r>
                      <a:r>
                        <a:rPr lang="en-US" sz="1200" spc="-10" dirty="0">
                          <a:effectLst/>
                        </a:rPr>
                        <a:t> </a:t>
                      </a:r>
                      <a:r>
                        <a:rPr lang="en-US" sz="1200" dirty="0">
                          <a:effectLst/>
                        </a:rPr>
                        <a:t>Steps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rowSpan="2">
                  <a:txBody>
                    <a:bodyPr/>
                    <a:lstStyle/>
                    <a:p>
                      <a:pPr marL="64770" marR="288925" algn="just">
                        <a:lnSpc>
                          <a:spcPct val="150000"/>
                        </a:lnSpc>
                        <a:spcBef>
                          <a:spcPts val="5"/>
                        </a:spcBef>
                        <a:spcAft>
                          <a:spcPts val="0"/>
                        </a:spcAft>
                      </a:pPr>
                      <a:r>
                        <a:rPr lang="en-US" sz="1200" dirty="0">
                          <a:effectLst/>
                        </a:rPr>
                        <a:t>Test</a:t>
                      </a:r>
                      <a:r>
                        <a:rPr lang="en-US" sz="1200" spc="-285" dirty="0">
                          <a:effectLst/>
                        </a:rPr>
                        <a:t> </a:t>
                      </a:r>
                      <a:r>
                        <a:rPr lang="en-US" sz="1200" dirty="0">
                          <a:effectLst/>
                        </a:rPr>
                        <a:t>Case</a:t>
                      </a:r>
                      <a:endParaRPr lang="en-IN" sz="1100" dirty="0">
                        <a:effectLst/>
                      </a:endParaRPr>
                    </a:p>
                    <a:p>
                      <a:pPr marL="64770" algn="just">
                        <a:spcAft>
                          <a:spcPts val="0"/>
                        </a:spcAft>
                      </a:pPr>
                      <a:r>
                        <a:rPr lang="en-US" sz="1200" dirty="0">
                          <a:effectLst/>
                        </a:rPr>
                        <a:t>Status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rowSpan="2">
                  <a:txBody>
                    <a:bodyPr/>
                    <a:lstStyle/>
                    <a:p>
                      <a:pPr marL="64135" marR="134620" algn="just">
                        <a:lnSpc>
                          <a:spcPct val="150000"/>
                        </a:lnSpc>
                        <a:spcBef>
                          <a:spcPts val="5"/>
                        </a:spcBef>
                        <a:spcAft>
                          <a:spcPts val="0"/>
                        </a:spcAft>
                      </a:pPr>
                      <a:r>
                        <a:rPr lang="en-US" sz="1200">
                          <a:effectLst/>
                        </a:rPr>
                        <a:t>Test</a:t>
                      </a:r>
                      <a:r>
                        <a:rPr lang="en-US" sz="1200" spc="5">
                          <a:effectLst/>
                        </a:rPr>
                        <a:t> </a:t>
                      </a:r>
                      <a:r>
                        <a:rPr lang="en-US" sz="1200" spc="-5">
                          <a:effectLst/>
                        </a:rPr>
                        <a:t>Priority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r h="0">
                <a:tc vMerge="1">
                  <a:txBody>
                    <a:bodyPr/>
                    <a:lstStyle/>
                    <a:p>
                      <a:endParaRPr lang="en-IN"/>
                    </a:p>
                  </a:txBody>
                  <a:tcPr/>
                </a:tc>
                <a:tc vMerge="1">
                  <a:txBody>
                    <a:bodyPr/>
                    <a:lstStyle/>
                    <a:p>
                      <a:endParaRPr lang="en-IN"/>
                    </a:p>
                  </a:txBody>
                  <a:tcPr/>
                </a:tc>
                <a:tc vMerge="1">
                  <a:txBody>
                    <a:bodyPr/>
                    <a:lstStyle/>
                    <a:p>
                      <a:endParaRPr lang="en-IN"/>
                    </a:p>
                  </a:txBody>
                  <a:tcPr/>
                </a:tc>
                <a:tc>
                  <a:txBody>
                    <a:bodyPr/>
                    <a:lstStyle/>
                    <a:p>
                      <a:pPr marL="67310" algn="just">
                        <a:lnSpc>
                          <a:spcPts val="1375"/>
                        </a:lnSpc>
                        <a:spcAft>
                          <a:spcPts val="0"/>
                        </a:spcAft>
                      </a:pPr>
                      <a:r>
                        <a:rPr lang="en-US" sz="1200">
                          <a:effectLst/>
                        </a:rPr>
                        <a:t>Step</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75"/>
                        </a:lnSpc>
                        <a:spcAft>
                          <a:spcPts val="0"/>
                        </a:spcAft>
                      </a:pPr>
                      <a:r>
                        <a:rPr lang="en-US" sz="1200" dirty="0">
                          <a:effectLst/>
                        </a:rPr>
                        <a:t>Expected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75"/>
                        </a:lnSpc>
                        <a:spcAft>
                          <a:spcPts val="0"/>
                        </a:spcAft>
                      </a:pPr>
                      <a:r>
                        <a:rPr lang="en-US" sz="1200">
                          <a:effectLst/>
                        </a:rPr>
                        <a:t>Actual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vMerge="1">
                  <a:txBody>
                    <a:bodyPr/>
                    <a:lstStyle/>
                    <a:p>
                      <a:endParaRPr lang="en-IN"/>
                    </a:p>
                  </a:txBody>
                  <a:tcPr/>
                </a:tc>
                <a:tc vMerge="1">
                  <a:txBody>
                    <a:bodyPr/>
                    <a:lstStyle/>
                    <a:p>
                      <a:endParaRPr lang="en-IN"/>
                    </a:p>
                  </a:txBody>
                  <a:tcPr/>
                </a:tc>
              </a:tr>
              <a:tr h="1840865">
                <a:tc>
                  <a:txBody>
                    <a:bodyPr/>
                    <a:lstStyle/>
                    <a:p>
                      <a:pPr marL="68580" algn="just">
                        <a:lnSpc>
                          <a:spcPts val="1350"/>
                        </a:lnSpc>
                        <a:spcAft>
                          <a:spcPts val="0"/>
                        </a:spcAft>
                      </a:pPr>
                      <a:r>
                        <a:rPr lang="en-US" sz="1200">
                          <a:effectLst/>
                        </a:rPr>
                        <a:t>01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60325" algn="just">
                        <a:lnSpc>
                          <a:spcPct val="150000"/>
                        </a:lnSpc>
                        <a:spcAft>
                          <a:spcPts val="0"/>
                        </a:spcAft>
                      </a:pPr>
                      <a:r>
                        <a:rPr lang="en-US" sz="1200">
                          <a:effectLst/>
                        </a:rPr>
                        <a:t>Upload</a:t>
                      </a:r>
                      <a:r>
                        <a:rPr lang="en-US" sz="1200" spc="10">
                          <a:effectLst/>
                        </a:rPr>
                        <a:t> </a:t>
                      </a:r>
                      <a:r>
                        <a:rPr lang="en-US" sz="1200">
                          <a:effectLst/>
                        </a:rPr>
                        <a:t>the</a:t>
                      </a:r>
                      <a:r>
                        <a:rPr lang="en-US" sz="1200" spc="-285">
                          <a:effectLst/>
                        </a:rPr>
                        <a:t> </a:t>
                      </a:r>
                      <a:r>
                        <a:rPr lang="en-US" sz="1200">
                          <a:effectLst/>
                        </a:rPr>
                        <a:t>tasks</a:t>
                      </a:r>
                      <a:r>
                        <a:rPr lang="en-US" sz="1200" spc="5">
                          <a:effectLst/>
                        </a:rPr>
                        <a:t> </a:t>
                      </a:r>
                      <a:r>
                        <a:rPr lang="en-US" sz="1200">
                          <a:effectLst/>
                        </a:rPr>
                        <a:t>dataset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1595" algn="just">
                        <a:lnSpc>
                          <a:spcPct val="150000"/>
                        </a:lnSpc>
                        <a:spcAft>
                          <a:spcPts val="0"/>
                        </a:spcAft>
                        <a:tabLst>
                          <a:tab pos="562610" algn="l"/>
                        </a:tabLst>
                      </a:pPr>
                      <a:r>
                        <a:rPr lang="en-US" sz="1200">
                          <a:effectLst/>
                        </a:rPr>
                        <a:t>Verify</a:t>
                      </a:r>
                      <a:r>
                        <a:rPr lang="en-US" sz="1200" spc="5">
                          <a:effectLst/>
                        </a:rPr>
                        <a:t> </a:t>
                      </a:r>
                      <a:r>
                        <a:rPr lang="en-US" sz="1200">
                          <a:effectLst/>
                        </a:rPr>
                        <a:t>either	</a:t>
                      </a:r>
                      <a:r>
                        <a:rPr lang="en-US" sz="1200" spc="-5">
                          <a:effectLst/>
                        </a:rPr>
                        <a:t>file</a:t>
                      </a:r>
                      <a:r>
                        <a:rPr lang="en-US" sz="1200" spc="-285">
                          <a:effectLst/>
                        </a:rPr>
                        <a:t> </a:t>
                      </a:r>
                      <a:r>
                        <a:rPr lang="en-US" sz="1200" spc="-5">
                          <a:effectLst/>
                        </a:rPr>
                        <a:t>is</a:t>
                      </a:r>
                      <a:r>
                        <a:rPr lang="en-US" sz="1200" spc="-70">
                          <a:effectLst/>
                        </a:rPr>
                        <a:t> </a:t>
                      </a:r>
                      <a:r>
                        <a:rPr lang="en-US" sz="1200">
                          <a:effectLst/>
                        </a:rPr>
                        <a:t>loaded</a:t>
                      </a:r>
                      <a:r>
                        <a:rPr lang="en-US" sz="1200" spc="-75">
                          <a:effectLst/>
                        </a:rPr>
                        <a:t> </a:t>
                      </a:r>
                      <a:r>
                        <a:rPr lang="en-US" sz="1200">
                          <a:effectLst/>
                        </a:rPr>
                        <a:t>or</a:t>
                      </a:r>
                      <a:r>
                        <a:rPr lang="en-US" sz="1200" spc="-285">
                          <a:effectLst/>
                        </a:rPr>
                        <a:t> </a:t>
                      </a:r>
                      <a:r>
                        <a:rPr lang="en-US" sz="1200">
                          <a:effectLst/>
                        </a:rPr>
                        <a:t>not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marR="64770" algn="just">
                        <a:lnSpc>
                          <a:spcPct val="150000"/>
                        </a:lnSpc>
                        <a:spcAft>
                          <a:spcPts val="0"/>
                        </a:spcAft>
                      </a:pPr>
                      <a:r>
                        <a:rPr lang="en-US" sz="1200">
                          <a:effectLst/>
                        </a:rPr>
                        <a:t>If</a:t>
                      </a:r>
                      <a:r>
                        <a:rPr lang="en-US" sz="1200" spc="235">
                          <a:effectLst/>
                        </a:rPr>
                        <a:t> </a:t>
                      </a:r>
                      <a:r>
                        <a:rPr lang="en-US" sz="1200">
                          <a:effectLst/>
                        </a:rPr>
                        <a:t>dataset</a:t>
                      </a:r>
                      <a:r>
                        <a:rPr lang="en-US" sz="1200" spc="230">
                          <a:effectLst/>
                        </a:rPr>
                        <a:t> </a:t>
                      </a:r>
                      <a:r>
                        <a:rPr lang="en-US" sz="1200">
                          <a:effectLst/>
                        </a:rPr>
                        <a:t>is</a:t>
                      </a:r>
                      <a:r>
                        <a:rPr lang="en-US" sz="1200" spc="-285">
                          <a:effectLst/>
                        </a:rPr>
                        <a:t> </a:t>
                      </a:r>
                      <a:r>
                        <a:rPr lang="en-US" sz="1200">
                          <a:effectLst/>
                        </a:rPr>
                        <a:t>not</a:t>
                      </a:r>
                      <a:r>
                        <a:rPr lang="en-US" sz="1200" spc="5">
                          <a:effectLst/>
                        </a:rPr>
                        <a:t> </a:t>
                      </a:r>
                      <a:r>
                        <a:rPr lang="en-US" sz="1200">
                          <a:effectLst/>
                        </a:rPr>
                        <a:t>uploaded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4135" algn="just">
                        <a:lnSpc>
                          <a:spcPct val="150000"/>
                        </a:lnSpc>
                        <a:spcAft>
                          <a:spcPts val="0"/>
                        </a:spcAft>
                      </a:pPr>
                      <a:r>
                        <a:rPr lang="en-US" sz="1200" dirty="0">
                          <a:effectLst/>
                        </a:rPr>
                        <a:t>It</a:t>
                      </a:r>
                      <a:r>
                        <a:rPr lang="en-US" sz="1200" spc="5" dirty="0">
                          <a:effectLst/>
                        </a:rPr>
                        <a:t> </a:t>
                      </a:r>
                      <a:r>
                        <a:rPr lang="en-US" sz="1200" dirty="0">
                          <a:effectLst/>
                        </a:rPr>
                        <a:t>cannot</a:t>
                      </a:r>
                      <a:r>
                        <a:rPr lang="en-US" sz="1200" spc="-285" dirty="0">
                          <a:effectLst/>
                        </a:rPr>
                        <a:t> </a:t>
                      </a:r>
                      <a:r>
                        <a:rPr lang="en-US" sz="1200" spc="-5" dirty="0">
                          <a:effectLst/>
                        </a:rPr>
                        <a:t>display </a:t>
                      </a:r>
                      <a:r>
                        <a:rPr lang="en-US" sz="1200" dirty="0">
                          <a:effectLst/>
                        </a:rPr>
                        <a:t>the</a:t>
                      </a:r>
                      <a:r>
                        <a:rPr lang="en-US" sz="1200" spc="-285" dirty="0">
                          <a:effectLst/>
                        </a:rPr>
                        <a:t> </a:t>
                      </a:r>
                      <a:r>
                        <a:rPr lang="en-US" sz="1200" dirty="0">
                          <a:effectLst/>
                        </a:rPr>
                        <a:t>file loaded</a:t>
                      </a:r>
                      <a:r>
                        <a:rPr lang="en-US" sz="1200" spc="-285" dirty="0">
                          <a:effectLst/>
                        </a:rPr>
                        <a:t> </a:t>
                      </a:r>
                      <a:r>
                        <a:rPr lang="en-US" sz="1200" dirty="0">
                          <a:effectLst/>
                        </a:rPr>
                        <a:t>message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50"/>
                        </a:lnSpc>
                        <a:spcAft>
                          <a:spcPts val="0"/>
                        </a:spcAft>
                        <a:tabLst>
                          <a:tab pos="683260" algn="l"/>
                        </a:tabLst>
                      </a:pPr>
                      <a:r>
                        <a:rPr lang="en-US" sz="1200">
                          <a:effectLst/>
                        </a:rPr>
                        <a:t>File	is</a:t>
                      </a:r>
                      <a:endParaRPr lang="en-IN" sz="1100">
                        <a:effectLst/>
                      </a:endParaRPr>
                    </a:p>
                    <a:p>
                      <a:pPr marL="66675" marR="278130" algn="just">
                        <a:lnSpc>
                          <a:spcPct val="150000"/>
                        </a:lnSpc>
                        <a:spcBef>
                          <a:spcPts val="695"/>
                        </a:spcBef>
                        <a:spcAft>
                          <a:spcPts val="0"/>
                        </a:spcAft>
                      </a:pPr>
                      <a:r>
                        <a:rPr lang="en-US" sz="1200">
                          <a:effectLst/>
                        </a:rPr>
                        <a:t>loaded</a:t>
                      </a:r>
                      <a:r>
                        <a:rPr lang="en-US" sz="1200" spc="5">
                          <a:effectLst/>
                        </a:rPr>
                        <a:t> </a:t>
                      </a:r>
                      <a:r>
                        <a:rPr lang="en-US" sz="1200">
                          <a:effectLst/>
                        </a:rPr>
                        <a:t>which</a:t>
                      </a:r>
                      <a:r>
                        <a:rPr lang="en-US" sz="1200" spc="5">
                          <a:effectLst/>
                        </a:rPr>
                        <a:t> </a:t>
                      </a:r>
                      <a:r>
                        <a:rPr lang="en-US" sz="1200" spc="-5">
                          <a:effectLst/>
                        </a:rPr>
                        <a:t>displays</a:t>
                      </a:r>
                      <a:r>
                        <a:rPr lang="en-US" sz="1200" spc="-285">
                          <a:effectLst/>
                        </a:rPr>
                        <a:t> </a:t>
                      </a:r>
                      <a:r>
                        <a:rPr lang="en-US" sz="1200">
                          <a:effectLst/>
                        </a:rPr>
                        <a:t>task</a:t>
                      </a:r>
                      <a:r>
                        <a:rPr lang="en-US" sz="1200" spc="5">
                          <a:effectLst/>
                        </a:rPr>
                        <a:t> </a:t>
                      </a:r>
                      <a:r>
                        <a:rPr lang="en-US" sz="1200">
                          <a:effectLst/>
                        </a:rPr>
                        <a:t>waiting</a:t>
                      </a:r>
                      <a:endParaRPr lang="en-IN" sz="1100">
                        <a:effectLst/>
                      </a:endParaRPr>
                    </a:p>
                    <a:p>
                      <a:pPr marL="66675" algn="just">
                        <a:lnSpc>
                          <a:spcPts val="1380"/>
                        </a:lnSpc>
                        <a:spcAft>
                          <a:spcPts val="0"/>
                        </a:spcAft>
                      </a:pPr>
                      <a:r>
                        <a:rPr lang="en-US" sz="1200">
                          <a:effectLst/>
                        </a:rPr>
                        <a:t>time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770" algn="just">
                        <a:lnSpc>
                          <a:spcPts val="1350"/>
                        </a:lnSpc>
                        <a:spcAft>
                          <a:spcPts val="0"/>
                        </a:spcAft>
                      </a:pPr>
                      <a:r>
                        <a:rPr lang="en-US" sz="1200">
                          <a:effectLst/>
                        </a:rPr>
                        <a:t>High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135" algn="just">
                        <a:lnSpc>
                          <a:spcPts val="1350"/>
                        </a:lnSpc>
                        <a:spcAft>
                          <a:spcPts val="0"/>
                        </a:spcAft>
                      </a:pPr>
                      <a:r>
                        <a:rPr lang="en-US" sz="1200" dirty="0">
                          <a:effectLst/>
                        </a:rPr>
                        <a:t>High</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bl>
          </a:graphicData>
        </a:graphic>
      </p:graphicFrame>
    </p:spTree>
    <p:extLst>
      <p:ext uri="{BB962C8B-B14F-4D97-AF65-F5344CB8AC3E}">
        <p14:creationId xmlns:p14="http://schemas.microsoft.com/office/powerpoint/2010/main" val="69906836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98927171"/>
              </p:ext>
            </p:extLst>
          </p:nvPr>
        </p:nvGraphicFramePr>
        <p:xfrm>
          <a:off x="927462" y="470261"/>
          <a:ext cx="8634551" cy="5577841"/>
        </p:xfrm>
        <a:graphic>
          <a:graphicData uri="http://schemas.openxmlformats.org/drawingml/2006/table">
            <a:tbl>
              <a:tblPr firstRow="1" firstCol="1" lastRow="1" lastCol="1" bandRow="1" bandCol="1">
                <a:tableStyleId>{5C22544A-7EE6-4342-B048-85BDC9FD1C3A}</a:tableStyleId>
              </a:tblPr>
              <a:tblGrid>
                <a:gridCol w="952195"/>
                <a:gridCol w="1118093"/>
                <a:gridCol w="1139696"/>
                <a:gridCol w="1240789"/>
                <a:gridCol w="1089580"/>
                <a:gridCol w="1168209"/>
                <a:gridCol w="934049"/>
                <a:gridCol w="991940"/>
              </a:tblGrid>
              <a:tr h="1646985">
                <a:tc>
                  <a:txBody>
                    <a:bodyPr/>
                    <a:lstStyle/>
                    <a:p>
                      <a:pPr marL="68580" algn="just">
                        <a:lnSpc>
                          <a:spcPts val="1350"/>
                        </a:lnSpc>
                        <a:spcAft>
                          <a:spcPts val="0"/>
                        </a:spcAft>
                      </a:pPr>
                      <a:r>
                        <a:rPr lang="en-US" sz="1200" dirty="0">
                          <a:effectLst/>
                        </a:rPr>
                        <a:t>02</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137160" algn="just">
                        <a:lnSpc>
                          <a:spcPct val="150000"/>
                        </a:lnSpc>
                        <a:spcAft>
                          <a:spcPts val="0"/>
                        </a:spcAft>
                      </a:pPr>
                      <a:r>
                        <a:rPr lang="en-US" sz="1200" dirty="0">
                          <a:effectLst/>
                        </a:rPr>
                        <a:t>Upload</a:t>
                      </a:r>
                      <a:r>
                        <a:rPr lang="en-US" sz="1200" spc="5" dirty="0">
                          <a:effectLst/>
                        </a:rPr>
                        <a:t> </a:t>
                      </a:r>
                      <a:r>
                        <a:rPr lang="en-US" sz="1200" dirty="0">
                          <a:effectLst/>
                        </a:rPr>
                        <a:t>live</a:t>
                      </a:r>
                      <a:r>
                        <a:rPr lang="en-US" sz="1200" spc="-65" dirty="0">
                          <a:effectLst/>
                        </a:rPr>
                        <a:t> </a:t>
                      </a:r>
                      <a:r>
                        <a:rPr lang="en-US" sz="1200" dirty="0">
                          <a:effectLst/>
                        </a:rPr>
                        <a:t>video</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2865" algn="just">
                        <a:lnSpc>
                          <a:spcPct val="150000"/>
                        </a:lnSpc>
                        <a:spcAft>
                          <a:spcPts val="0"/>
                        </a:spcAft>
                        <a:tabLst>
                          <a:tab pos="639445" algn="l"/>
                        </a:tabLst>
                      </a:pPr>
                      <a:r>
                        <a:rPr lang="en-US" sz="1200">
                          <a:effectLst/>
                        </a:rPr>
                        <a:t>Verify</a:t>
                      </a:r>
                      <a:r>
                        <a:rPr lang="en-US" sz="1200" spc="5">
                          <a:effectLst/>
                        </a:rPr>
                        <a:t> </a:t>
                      </a:r>
                      <a:r>
                        <a:rPr lang="en-US" sz="1200">
                          <a:effectLst/>
                        </a:rPr>
                        <a:t>either</a:t>
                      </a:r>
                      <a:r>
                        <a:rPr lang="en-US" sz="1200" spc="5">
                          <a:effectLst/>
                        </a:rPr>
                        <a:t> </a:t>
                      </a:r>
                      <a:r>
                        <a:rPr lang="en-US" sz="1200">
                          <a:effectLst/>
                        </a:rPr>
                        <a:t>dataset</a:t>
                      </a:r>
                      <a:r>
                        <a:rPr lang="en-US" sz="1200" spc="5">
                          <a:effectLst/>
                        </a:rPr>
                        <a:t> </a:t>
                      </a:r>
                      <a:r>
                        <a:rPr lang="en-US" sz="1200">
                          <a:effectLst/>
                        </a:rPr>
                        <a:t>loaded	</a:t>
                      </a:r>
                      <a:r>
                        <a:rPr lang="en-US" sz="1200" spc="-10">
                          <a:effectLst/>
                        </a:rPr>
                        <a:t>or</a:t>
                      </a:r>
                      <a:r>
                        <a:rPr lang="en-US" sz="1200" spc="-285">
                          <a:effectLst/>
                        </a:rPr>
                        <a:t> </a:t>
                      </a:r>
                      <a:r>
                        <a:rPr lang="en-US" sz="1200">
                          <a:effectLst/>
                        </a:rPr>
                        <a:t>not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marR="64770" algn="just">
                        <a:lnSpc>
                          <a:spcPct val="150000"/>
                        </a:lnSpc>
                        <a:spcAft>
                          <a:spcPts val="0"/>
                        </a:spcAft>
                      </a:pPr>
                      <a:r>
                        <a:rPr lang="en-US" sz="1200">
                          <a:effectLst/>
                        </a:rPr>
                        <a:t>If</a:t>
                      </a:r>
                      <a:r>
                        <a:rPr lang="en-US" sz="1200" spc="235">
                          <a:effectLst/>
                        </a:rPr>
                        <a:t> </a:t>
                      </a:r>
                      <a:r>
                        <a:rPr lang="en-US" sz="1200">
                          <a:effectLst/>
                        </a:rPr>
                        <a:t>dataset</a:t>
                      </a:r>
                      <a:r>
                        <a:rPr lang="en-US" sz="1200" spc="230">
                          <a:effectLst/>
                        </a:rPr>
                        <a:t> </a:t>
                      </a:r>
                      <a:r>
                        <a:rPr lang="en-US" sz="1200">
                          <a:effectLst/>
                        </a:rPr>
                        <a:t>is</a:t>
                      </a:r>
                      <a:r>
                        <a:rPr lang="en-US" sz="1200" spc="-285">
                          <a:effectLst/>
                        </a:rPr>
                        <a:t> </a:t>
                      </a:r>
                      <a:r>
                        <a:rPr lang="en-US" sz="1200">
                          <a:effectLst/>
                        </a:rPr>
                        <a:t>not</a:t>
                      </a:r>
                      <a:r>
                        <a:rPr lang="en-US" sz="1200" spc="5">
                          <a:effectLst/>
                        </a:rPr>
                        <a:t> </a:t>
                      </a:r>
                      <a:r>
                        <a:rPr lang="en-US" sz="1200">
                          <a:effectLst/>
                        </a:rPr>
                        <a:t>uploaded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4770" algn="just">
                        <a:lnSpc>
                          <a:spcPct val="150000"/>
                        </a:lnSpc>
                        <a:spcAft>
                          <a:spcPts val="0"/>
                        </a:spcAft>
                        <a:tabLst>
                          <a:tab pos="322580" algn="l"/>
                        </a:tabLst>
                      </a:pPr>
                      <a:r>
                        <a:rPr lang="en-US" sz="1200">
                          <a:effectLst/>
                        </a:rPr>
                        <a:t>It	</a:t>
                      </a:r>
                      <a:r>
                        <a:rPr lang="en-US" sz="1200" spc="-5">
                          <a:effectLst/>
                        </a:rPr>
                        <a:t>cannot</a:t>
                      </a:r>
                      <a:r>
                        <a:rPr lang="en-US" sz="1200" spc="-285">
                          <a:effectLst/>
                        </a:rPr>
                        <a:t> </a:t>
                      </a:r>
                      <a:r>
                        <a:rPr lang="en-US" sz="1200">
                          <a:effectLst/>
                        </a:rPr>
                        <a:t>display</a:t>
                      </a:r>
                      <a:r>
                        <a:rPr lang="en-US" sz="1200" spc="5">
                          <a:effectLst/>
                        </a:rPr>
                        <a:t> </a:t>
                      </a:r>
                      <a:r>
                        <a:rPr lang="en-US" sz="1200">
                          <a:effectLst/>
                        </a:rPr>
                        <a:t>dataset</a:t>
                      </a:r>
                      <a:r>
                        <a:rPr lang="en-US" sz="1200" spc="5">
                          <a:effectLst/>
                        </a:rPr>
                        <a:t> </a:t>
                      </a:r>
                      <a:r>
                        <a:rPr lang="en-US" sz="1200">
                          <a:effectLst/>
                        </a:rPr>
                        <a:t>reading</a:t>
                      </a:r>
                      <a:r>
                        <a:rPr lang="en-US" sz="1200" spc="5">
                          <a:effectLst/>
                        </a:rPr>
                        <a:t> </a:t>
                      </a:r>
                      <a:r>
                        <a:rPr lang="en-US" sz="1200">
                          <a:effectLst/>
                        </a:rPr>
                        <a:t>process</a:t>
                      </a:r>
                      <a:endParaRPr lang="en-IN" sz="1100">
                        <a:effectLst/>
                      </a:endParaRPr>
                    </a:p>
                    <a:p>
                      <a:pPr marL="66675" algn="just">
                        <a:lnSpc>
                          <a:spcPts val="1375"/>
                        </a:lnSpc>
                        <a:spcAft>
                          <a:spcPts val="0"/>
                        </a:spcAft>
                      </a:pPr>
                      <a:r>
                        <a:rPr lang="en-US" sz="1200">
                          <a:effectLst/>
                        </a:rPr>
                        <a:t>completed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50"/>
                        </a:lnSpc>
                        <a:spcAft>
                          <a:spcPts val="0"/>
                        </a:spcAft>
                        <a:tabLst>
                          <a:tab pos="574040" algn="l"/>
                        </a:tabLst>
                      </a:pPr>
                      <a:r>
                        <a:rPr lang="en-US" sz="1200">
                          <a:effectLst/>
                        </a:rPr>
                        <a:t>It	can</a:t>
                      </a:r>
                      <a:endParaRPr lang="en-IN" sz="1100">
                        <a:effectLst/>
                      </a:endParaRPr>
                    </a:p>
                    <a:p>
                      <a:pPr marL="66675" marR="327025" algn="just">
                        <a:lnSpc>
                          <a:spcPct val="150000"/>
                        </a:lnSpc>
                        <a:spcBef>
                          <a:spcPts val="685"/>
                        </a:spcBef>
                        <a:spcAft>
                          <a:spcPts val="0"/>
                        </a:spcAft>
                      </a:pPr>
                      <a:r>
                        <a:rPr lang="en-US" sz="1200">
                          <a:effectLst/>
                        </a:rPr>
                        <a:t>display</a:t>
                      </a:r>
                      <a:r>
                        <a:rPr lang="en-US" sz="1200" spc="-290">
                          <a:effectLst/>
                        </a:rPr>
                        <a:t> </a:t>
                      </a:r>
                      <a:r>
                        <a:rPr lang="en-US" sz="1200">
                          <a:effectLst/>
                        </a:rPr>
                        <a:t>dataset</a:t>
                      </a:r>
                      <a:r>
                        <a:rPr lang="en-US" sz="1200" spc="-290">
                          <a:effectLst/>
                        </a:rPr>
                        <a:t> </a:t>
                      </a:r>
                      <a:r>
                        <a:rPr lang="en-US" sz="1200">
                          <a:effectLst/>
                        </a:rPr>
                        <a:t>reading</a:t>
                      </a:r>
                      <a:r>
                        <a:rPr lang="en-US" sz="1200" spc="-295">
                          <a:effectLst/>
                        </a:rPr>
                        <a:t> </a:t>
                      </a:r>
                      <a:r>
                        <a:rPr lang="en-US" sz="1200">
                          <a:effectLst/>
                        </a:rPr>
                        <a:t>process</a:t>
                      </a:r>
                      <a:endParaRPr lang="en-IN" sz="1100">
                        <a:effectLst/>
                      </a:endParaRPr>
                    </a:p>
                    <a:p>
                      <a:pPr marL="66675" algn="just">
                        <a:spcAft>
                          <a:spcPts val="0"/>
                        </a:spcAft>
                      </a:pPr>
                      <a:r>
                        <a:rPr lang="en-US" sz="1200">
                          <a:effectLst/>
                        </a:rPr>
                        <a:t>completed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770" algn="just">
                        <a:lnSpc>
                          <a:spcPts val="1350"/>
                        </a:lnSpc>
                        <a:spcAft>
                          <a:spcPts val="0"/>
                        </a:spcAft>
                      </a:pPr>
                      <a:r>
                        <a:rPr lang="en-US" sz="1200">
                          <a:effectLst/>
                        </a:rPr>
                        <a:t>low</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135" algn="just">
                        <a:lnSpc>
                          <a:spcPts val="1350"/>
                        </a:lnSpc>
                        <a:spcAft>
                          <a:spcPts val="0"/>
                        </a:spcAft>
                      </a:pPr>
                      <a:r>
                        <a:rPr lang="en-US" sz="1200">
                          <a:effectLst/>
                        </a:rPr>
                        <a:t>High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r h="1965428">
                <a:tc>
                  <a:txBody>
                    <a:bodyPr/>
                    <a:lstStyle/>
                    <a:p>
                      <a:pPr marL="68580" algn="just">
                        <a:lnSpc>
                          <a:spcPts val="1350"/>
                        </a:lnSpc>
                        <a:spcAft>
                          <a:spcPts val="0"/>
                        </a:spcAft>
                      </a:pPr>
                      <a:r>
                        <a:rPr lang="en-US" sz="1200">
                          <a:effectLst/>
                        </a:rPr>
                        <a:t>03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80645" algn="just">
                        <a:lnSpc>
                          <a:spcPct val="150000"/>
                        </a:lnSpc>
                        <a:spcAft>
                          <a:spcPts val="0"/>
                        </a:spcAft>
                      </a:pPr>
                      <a:r>
                        <a:rPr lang="en-US" sz="1200" spc="-5">
                          <a:effectLst/>
                        </a:rPr>
                        <a:t>Preprocess</a:t>
                      </a:r>
                      <a:r>
                        <a:rPr lang="en-US" sz="1200" spc="-285">
                          <a:effectLst/>
                        </a:rPr>
                        <a:t> </a:t>
                      </a:r>
                      <a:r>
                        <a:rPr lang="en-US" sz="1200">
                          <a:effectLst/>
                        </a:rPr>
                        <a:t>ing</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57785" algn="just">
                        <a:lnSpc>
                          <a:spcPct val="150000"/>
                        </a:lnSpc>
                        <a:spcAft>
                          <a:spcPts val="0"/>
                        </a:spcAft>
                      </a:pPr>
                      <a:r>
                        <a:rPr lang="en-US" sz="1200" dirty="0">
                          <a:effectLst/>
                        </a:rPr>
                        <a:t>Whether</a:t>
                      </a:r>
                      <a:r>
                        <a:rPr lang="en-US" sz="1200" spc="5" dirty="0">
                          <a:effectLst/>
                        </a:rPr>
                        <a:t> </a:t>
                      </a:r>
                      <a:r>
                        <a:rPr lang="en-US" sz="1200" dirty="0" smtClean="0">
                          <a:effectLst/>
                        </a:rPr>
                        <a:t>preprocessing</a:t>
                      </a:r>
                      <a:r>
                        <a:rPr lang="en-US" sz="1200" spc="175" dirty="0" smtClean="0">
                          <a:effectLst/>
                        </a:rPr>
                        <a:t> </a:t>
                      </a:r>
                      <a:r>
                        <a:rPr lang="en-US" sz="1200" dirty="0">
                          <a:effectLst/>
                        </a:rPr>
                        <a:t>on</a:t>
                      </a:r>
                      <a:r>
                        <a:rPr lang="en-US" sz="1200" spc="190" dirty="0">
                          <a:effectLst/>
                        </a:rPr>
                        <a:t> </a:t>
                      </a:r>
                      <a:r>
                        <a:rPr lang="en-US" sz="1200" dirty="0">
                          <a:effectLst/>
                        </a:rPr>
                        <a:t>the</a:t>
                      </a:r>
                      <a:r>
                        <a:rPr lang="en-US" sz="1200" spc="-285" dirty="0">
                          <a:effectLst/>
                        </a:rPr>
                        <a:t> </a:t>
                      </a:r>
                      <a:r>
                        <a:rPr lang="en-US" sz="1200" dirty="0">
                          <a:effectLst/>
                        </a:rPr>
                        <a:t>dataset</a:t>
                      </a:r>
                      <a:r>
                        <a:rPr lang="en-US" sz="1200" spc="5" dirty="0">
                          <a:effectLst/>
                        </a:rPr>
                        <a:t> </a:t>
                      </a:r>
                      <a:r>
                        <a:rPr lang="en-US" sz="1200" dirty="0">
                          <a:effectLst/>
                        </a:rPr>
                        <a:t>applied</a:t>
                      </a:r>
                      <a:r>
                        <a:rPr lang="en-US" sz="1200" spc="5" dirty="0">
                          <a:effectLst/>
                        </a:rPr>
                        <a:t> </a:t>
                      </a:r>
                      <a:r>
                        <a:rPr lang="en-US" sz="1200" dirty="0" smtClean="0">
                          <a:effectLst/>
                        </a:rPr>
                        <a:t>or </a:t>
                      </a:r>
                      <a:r>
                        <a:rPr lang="en-US" sz="1200" spc="-285" dirty="0" smtClean="0">
                          <a:effectLst/>
                        </a:rPr>
                        <a:t> </a:t>
                      </a:r>
                      <a:r>
                        <a:rPr lang="en-US" sz="1200" dirty="0">
                          <a:effectLst/>
                        </a:rPr>
                        <a:t>not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lgn="just">
                        <a:lnSpc>
                          <a:spcPts val="1350"/>
                        </a:lnSpc>
                        <a:spcAft>
                          <a:spcPts val="0"/>
                        </a:spcAft>
                        <a:tabLst>
                          <a:tab pos="644525" algn="l"/>
                        </a:tabLst>
                      </a:pPr>
                      <a:r>
                        <a:rPr lang="en-US" sz="1200">
                          <a:effectLst/>
                        </a:rPr>
                        <a:t>If	not</a:t>
                      </a:r>
                      <a:endParaRPr lang="en-IN" sz="1100">
                        <a:effectLst/>
                      </a:endParaRPr>
                    </a:p>
                    <a:p>
                      <a:pPr marL="67310" algn="just">
                        <a:spcBef>
                          <a:spcPts val="685"/>
                        </a:spcBef>
                        <a:spcAft>
                          <a:spcPts val="0"/>
                        </a:spcAft>
                      </a:pPr>
                      <a:r>
                        <a:rPr lang="en-US" sz="1200">
                          <a:effectLst/>
                        </a:rPr>
                        <a:t>applied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3500" algn="just">
                        <a:lnSpc>
                          <a:spcPct val="150000"/>
                        </a:lnSpc>
                        <a:spcAft>
                          <a:spcPts val="0"/>
                        </a:spcAft>
                        <a:tabLst>
                          <a:tab pos="551180" algn="l"/>
                        </a:tabLst>
                      </a:pPr>
                      <a:r>
                        <a:rPr lang="en-US" sz="1200">
                          <a:effectLst/>
                        </a:rPr>
                        <a:t>It</a:t>
                      </a:r>
                      <a:r>
                        <a:rPr lang="en-US" sz="1200" spc="5">
                          <a:effectLst/>
                        </a:rPr>
                        <a:t> </a:t>
                      </a:r>
                      <a:r>
                        <a:rPr lang="en-US" sz="1200">
                          <a:effectLst/>
                        </a:rPr>
                        <a:t>cannot</a:t>
                      </a:r>
                      <a:r>
                        <a:rPr lang="en-US" sz="1200" spc="5">
                          <a:effectLst/>
                        </a:rPr>
                        <a:t> </a:t>
                      </a:r>
                      <a:r>
                        <a:rPr lang="en-US" sz="1200" spc="-5">
                          <a:effectLst/>
                        </a:rPr>
                        <a:t>display </a:t>
                      </a:r>
                      <a:r>
                        <a:rPr lang="en-US" sz="1200">
                          <a:effectLst/>
                        </a:rPr>
                        <a:t>the</a:t>
                      </a:r>
                      <a:r>
                        <a:rPr lang="en-US" sz="1200" spc="-285">
                          <a:effectLst/>
                        </a:rPr>
                        <a:t> </a:t>
                      </a:r>
                      <a:r>
                        <a:rPr lang="en-US" sz="1200">
                          <a:effectLst/>
                        </a:rPr>
                        <a:t>necessary</a:t>
                      </a:r>
                      <a:r>
                        <a:rPr lang="en-US" sz="1200" spc="5">
                          <a:effectLst/>
                        </a:rPr>
                        <a:t> </a:t>
                      </a:r>
                      <a:r>
                        <a:rPr lang="en-US" sz="1200">
                          <a:effectLst/>
                        </a:rPr>
                        <a:t>data	</a:t>
                      </a:r>
                      <a:r>
                        <a:rPr lang="en-US" sz="1200" spc="-10">
                          <a:effectLst/>
                        </a:rPr>
                        <a:t>for</a:t>
                      </a:r>
                      <a:r>
                        <a:rPr lang="en-US" sz="1200" spc="-285">
                          <a:effectLst/>
                        </a:rPr>
                        <a:t> </a:t>
                      </a:r>
                      <a:r>
                        <a:rPr lang="en-US" sz="1200">
                          <a:effectLst/>
                        </a:rPr>
                        <a:t>further</a:t>
                      </a:r>
                      <a:r>
                        <a:rPr lang="en-US" sz="1200" spc="5">
                          <a:effectLst/>
                        </a:rPr>
                        <a:t> </a:t>
                      </a:r>
                      <a:r>
                        <a:rPr lang="en-US" sz="1200">
                          <a:effectLst/>
                        </a:rPr>
                        <a:t>process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50"/>
                        </a:lnSpc>
                        <a:spcAft>
                          <a:spcPts val="0"/>
                        </a:spcAft>
                        <a:tabLst>
                          <a:tab pos="574040" algn="l"/>
                        </a:tabLst>
                      </a:pPr>
                      <a:r>
                        <a:rPr lang="en-US" sz="1200">
                          <a:effectLst/>
                        </a:rPr>
                        <a:t>It	can</a:t>
                      </a:r>
                      <a:endParaRPr lang="en-IN" sz="1100">
                        <a:effectLst/>
                      </a:endParaRPr>
                    </a:p>
                    <a:p>
                      <a:pPr marL="66675" marR="64135" algn="just">
                        <a:lnSpc>
                          <a:spcPct val="150000"/>
                        </a:lnSpc>
                        <a:spcBef>
                          <a:spcPts val="685"/>
                        </a:spcBef>
                        <a:spcAft>
                          <a:spcPts val="0"/>
                        </a:spcAft>
                        <a:tabLst>
                          <a:tab pos="607060" algn="l"/>
                        </a:tabLst>
                      </a:pPr>
                      <a:r>
                        <a:rPr lang="en-US" sz="1200">
                          <a:effectLst/>
                        </a:rPr>
                        <a:t>display</a:t>
                      </a:r>
                      <a:r>
                        <a:rPr lang="en-US" sz="1200" spc="55">
                          <a:effectLst/>
                        </a:rPr>
                        <a:t> </a:t>
                      </a:r>
                      <a:r>
                        <a:rPr lang="en-US" sz="1200">
                          <a:effectLst/>
                        </a:rPr>
                        <a:t>the</a:t>
                      </a:r>
                      <a:r>
                        <a:rPr lang="en-US" sz="1200" spc="-285">
                          <a:effectLst/>
                        </a:rPr>
                        <a:t> </a:t>
                      </a:r>
                      <a:r>
                        <a:rPr lang="en-US" sz="1200">
                          <a:effectLst/>
                        </a:rPr>
                        <a:t>necessary</a:t>
                      </a:r>
                      <a:r>
                        <a:rPr lang="en-US" sz="1200" spc="5">
                          <a:effectLst/>
                        </a:rPr>
                        <a:t> </a:t>
                      </a:r>
                      <a:r>
                        <a:rPr lang="en-US" sz="1200">
                          <a:effectLst/>
                        </a:rPr>
                        <a:t>data	</a:t>
                      </a:r>
                      <a:r>
                        <a:rPr lang="en-US" sz="1200" spc="-5">
                          <a:effectLst/>
                        </a:rPr>
                        <a:t>for</a:t>
                      </a:r>
                      <a:r>
                        <a:rPr lang="en-US" sz="1200" spc="-285">
                          <a:effectLst/>
                        </a:rPr>
                        <a:t> </a:t>
                      </a:r>
                      <a:r>
                        <a:rPr lang="en-US" sz="1200">
                          <a:effectLst/>
                        </a:rPr>
                        <a:t>further</a:t>
                      </a:r>
                      <a:r>
                        <a:rPr lang="en-US" sz="1200" spc="5">
                          <a:effectLst/>
                        </a:rPr>
                        <a:t> </a:t>
                      </a:r>
                      <a:r>
                        <a:rPr lang="en-US" sz="1200">
                          <a:effectLst/>
                        </a:rPr>
                        <a:t>process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770" algn="just">
                        <a:lnSpc>
                          <a:spcPts val="1350"/>
                        </a:lnSpc>
                        <a:spcAft>
                          <a:spcPts val="0"/>
                        </a:spcAft>
                      </a:pPr>
                      <a:r>
                        <a:rPr lang="en-US" sz="1200">
                          <a:effectLst/>
                        </a:rPr>
                        <a:t>Medium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135" algn="just">
                        <a:lnSpc>
                          <a:spcPts val="1350"/>
                        </a:lnSpc>
                        <a:spcAft>
                          <a:spcPts val="0"/>
                        </a:spcAft>
                      </a:pPr>
                      <a:r>
                        <a:rPr lang="en-US" sz="1200">
                          <a:effectLst/>
                        </a:rPr>
                        <a:t>High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r h="1965428">
                <a:tc>
                  <a:txBody>
                    <a:bodyPr/>
                    <a:lstStyle/>
                    <a:p>
                      <a:pPr marL="68580" algn="just">
                        <a:lnSpc>
                          <a:spcPts val="1350"/>
                        </a:lnSpc>
                        <a:spcAft>
                          <a:spcPts val="0"/>
                        </a:spcAft>
                      </a:pPr>
                      <a:r>
                        <a:rPr lang="en-US" sz="1200">
                          <a:effectLst/>
                        </a:rPr>
                        <a:t>04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80645" algn="just">
                        <a:lnSpc>
                          <a:spcPct val="150000"/>
                        </a:lnSpc>
                        <a:spcAft>
                          <a:spcPts val="0"/>
                        </a:spcAft>
                      </a:pPr>
                      <a:r>
                        <a:rPr lang="en-US" sz="1200" spc="-5" dirty="0">
                          <a:effectLst/>
                        </a:rPr>
                        <a:t>Prediction Multi model </a:t>
                      </a:r>
                      <a:r>
                        <a:rPr lang="en-US" sz="1200" spc="-5" dirty="0" smtClean="0">
                          <a:effectLst/>
                        </a:rPr>
                        <a:t>Naive </a:t>
                      </a:r>
                      <a:r>
                        <a:rPr lang="en-US" sz="1200" spc="-5" dirty="0">
                          <a:effectLst/>
                        </a:rPr>
                        <a:t>Bayes</a:t>
                      </a:r>
                      <a:endParaRPr lang="en-IN" sz="1100" dirty="0">
                        <a:effectLst/>
                      </a:endParaRPr>
                    </a:p>
                    <a:p>
                      <a:pPr marL="67945" marR="80645" algn="just">
                        <a:lnSpc>
                          <a:spcPct val="150000"/>
                        </a:lnSpc>
                        <a:spcAft>
                          <a:spcPts val="0"/>
                        </a:spcAft>
                      </a:pPr>
                      <a:r>
                        <a:rPr lang="en-US" sz="1200" spc="-5" dirty="0">
                          <a:effectLst/>
                        </a:rPr>
                        <a:t>model</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57785" algn="just">
                        <a:lnSpc>
                          <a:spcPct val="150000"/>
                        </a:lnSpc>
                        <a:spcAft>
                          <a:spcPts val="0"/>
                        </a:spcAft>
                      </a:pPr>
                      <a:r>
                        <a:rPr lang="en-US" sz="1200">
                          <a:effectLst/>
                        </a:rPr>
                        <a:t>Whether Prediction algorithm applied on the data or</a:t>
                      </a:r>
                      <a:endParaRPr lang="en-IN" sz="1100">
                        <a:effectLst/>
                      </a:endParaRPr>
                    </a:p>
                    <a:p>
                      <a:pPr marL="66675" marR="57785" algn="just">
                        <a:lnSpc>
                          <a:spcPct val="150000"/>
                        </a:lnSpc>
                        <a:spcAft>
                          <a:spcPts val="0"/>
                        </a:spcAft>
                      </a:pPr>
                      <a:r>
                        <a:rPr lang="en-US" sz="1200">
                          <a:effectLst/>
                        </a:rPr>
                        <a:t>not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lgn="just">
                        <a:lnSpc>
                          <a:spcPts val="1350"/>
                        </a:lnSpc>
                        <a:spcAft>
                          <a:spcPts val="0"/>
                        </a:spcAft>
                        <a:tabLst>
                          <a:tab pos="644525" algn="l"/>
                        </a:tabLst>
                      </a:pPr>
                      <a:r>
                        <a:rPr lang="en-US" sz="1200">
                          <a:effectLst/>
                        </a:rPr>
                        <a:t>If	not</a:t>
                      </a:r>
                      <a:endParaRPr lang="en-IN" sz="1100">
                        <a:effectLst/>
                      </a:endParaRPr>
                    </a:p>
                    <a:p>
                      <a:pPr marL="67310" algn="just">
                        <a:lnSpc>
                          <a:spcPts val="1350"/>
                        </a:lnSpc>
                        <a:spcAft>
                          <a:spcPts val="0"/>
                        </a:spcAft>
                        <a:tabLst>
                          <a:tab pos="644525" algn="l"/>
                        </a:tabLst>
                      </a:pPr>
                      <a:r>
                        <a:rPr lang="en-US" sz="1200">
                          <a:effectLst/>
                        </a:rPr>
                        <a:t>applied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3500" algn="just">
                        <a:lnSpc>
                          <a:spcPct val="150000"/>
                        </a:lnSpc>
                        <a:spcAft>
                          <a:spcPts val="0"/>
                        </a:spcAft>
                        <a:tabLst>
                          <a:tab pos="551180" algn="l"/>
                        </a:tabLst>
                      </a:pPr>
                      <a:r>
                        <a:rPr lang="en-US" sz="1200" dirty="0">
                          <a:effectLst/>
                        </a:rPr>
                        <a:t>Multi model </a:t>
                      </a:r>
                      <a:r>
                        <a:rPr lang="en-US" sz="1200" dirty="0" smtClean="0">
                          <a:effectLst/>
                        </a:rPr>
                        <a:t>Naive </a:t>
                      </a:r>
                      <a:r>
                        <a:rPr lang="en-US" sz="1200" dirty="0">
                          <a:effectLst/>
                        </a:rPr>
                        <a:t>Bayes model	is</a:t>
                      </a:r>
                      <a:endParaRPr lang="en-IN" sz="1100" dirty="0">
                        <a:effectLst/>
                      </a:endParaRPr>
                    </a:p>
                    <a:p>
                      <a:pPr marL="66675" marR="63500" algn="just">
                        <a:lnSpc>
                          <a:spcPct val="150000"/>
                        </a:lnSpc>
                        <a:spcAft>
                          <a:spcPts val="0"/>
                        </a:spcAft>
                        <a:tabLst>
                          <a:tab pos="551180" algn="l"/>
                        </a:tabLst>
                      </a:pPr>
                      <a:r>
                        <a:rPr lang="en-US" sz="1200" dirty="0">
                          <a:effectLst/>
                        </a:rPr>
                        <a:t>created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50"/>
                        </a:lnSpc>
                        <a:spcAft>
                          <a:spcPts val="0"/>
                        </a:spcAft>
                        <a:tabLst>
                          <a:tab pos="574040" algn="l"/>
                        </a:tabLst>
                      </a:pPr>
                      <a:r>
                        <a:rPr lang="en-US" sz="1200" dirty="0">
                          <a:effectLst/>
                        </a:rPr>
                        <a:t>Multi model </a:t>
                      </a:r>
                      <a:r>
                        <a:rPr lang="en-US" sz="1200" dirty="0" err="1" smtClean="0">
                          <a:effectLst/>
                        </a:rPr>
                        <a:t>Naisve</a:t>
                      </a:r>
                      <a:r>
                        <a:rPr lang="en-US" sz="1200" dirty="0" smtClean="0">
                          <a:effectLst/>
                        </a:rPr>
                        <a:t> </a:t>
                      </a:r>
                      <a:r>
                        <a:rPr lang="en-US" sz="1200" dirty="0">
                          <a:effectLst/>
                        </a:rPr>
                        <a:t>Bayes model	is</a:t>
                      </a:r>
                      <a:endParaRPr lang="en-IN" sz="1100" dirty="0">
                        <a:effectLst/>
                      </a:endParaRPr>
                    </a:p>
                    <a:p>
                      <a:pPr marL="66675" algn="just">
                        <a:lnSpc>
                          <a:spcPts val="1350"/>
                        </a:lnSpc>
                        <a:spcAft>
                          <a:spcPts val="0"/>
                        </a:spcAft>
                        <a:tabLst>
                          <a:tab pos="574040" algn="l"/>
                        </a:tabLst>
                      </a:pPr>
                      <a:r>
                        <a:rPr lang="en-US" sz="1200" dirty="0">
                          <a:effectLst/>
                        </a:rPr>
                        <a:t>created</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770" algn="just">
                        <a:lnSpc>
                          <a:spcPts val="1350"/>
                        </a:lnSpc>
                        <a:spcAft>
                          <a:spcPts val="0"/>
                        </a:spcAft>
                      </a:pPr>
                      <a:r>
                        <a:rPr lang="en-US" sz="1200">
                          <a:effectLst/>
                        </a:rPr>
                        <a:t>High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135" algn="just">
                        <a:lnSpc>
                          <a:spcPts val="1350"/>
                        </a:lnSpc>
                        <a:spcAft>
                          <a:spcPts val="0"/>
                        </a:spcAft>
                      </a:pPr>
                      <a:r>
                        <a:rPr lang="en-US" sz="1200" dirty="0">
                          <a:effectLst/>
                        </a:rPr>
                        <a:t>High</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bl>
          </a:graphicData>
        </a:graphic>
      </p:graphicFrame>
    </p:spTree>
    <p:extLst>
      <p:ext uri="{BB962C8B-B14F-4D97-AF65-F5344CB8AC3E}">
        <p14:creationId xmlns:p14="http://schemas.microsoft.com/office/powerpoint/2010/main" val="40631928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145190129"/>
              </p:ext>
            </p:extLst>
          </p:nvPr>
        </p:nvGraphicFramePr>
        <p:xfrm>
          <a:off x="744581" y="1035844"/>
          <a:ext cx="8934995" cy="4659562"/>
        </p:xfrm>
        <a:graphic>
          <a:graphicData uri="http://schemas.openxmlformats.org/drawingml/2006/table">
            <a:tbl>
              <a:tblPr firstRow="1" firstCol="1" lastRow="1" lastCol="1" bandRow="1" bandCol="1">
                <a:tableStyleId>{5C22544A-7EE6-4342-B048-85BDC9FD1C3A}</a:tableStyleId>
              </a:tblPr>
              <a:tblGrid>
                <a:gridCol w="985326"/>
                <a:gridCol w="1156998"/>
                <a:gridCol w="1179352"/>
                <a:gridCol w="1283964"/>
                <a:gridCol w="1127493"/>
                <a:gridCol w="1208857"/>
                <a:gridCol w="966549"/>
                <a:gridCol w="1026456"/>
              </a:tblGrid>
              <a:tr h="2329781">
                <a:tc>
                  <a:txBody>
                    <a:bodyPr/>
                    <a:lstStyle/>
                    <a:p>
                      <a:pPr marL="68580" algn="just">
                        <a:lnSpc>
                          <a:spcPts val="1350"/>
                        </a:lnSpc>
                        <a:spcAft>
                          <a:spcPts val="0"/>
                        </a:spcAft>
                      </a:pPr>
                      <a:r>
                        <a:rPr lang="en-US" sz="1200" dirty="0">
                          <a:effectLst/>
                        </a:rPr>
                        <a:t>05</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80645" algn="just">
                        <a:lnSpc>
                          <a:spcPct val="150000"/>
                        </a:lnSpc>
                        <a:spcAft>
                          <a:spcPts val="0"/>
                        </a:spcAft>
                      </a:pPr>
                      <a:r>
                        <a:rPr lang="en-US" sz="1200" spc="-5" dirty="0">
                          <a:effectLst/>
                        </a:rPr>
                        <a:t>Prediction</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57785" algn="just">
                        <a:lnSpc>
                          <a:spcPct val="150000"/>
                        </a:lnSpc>
                        <a:spcAft>
                          <a:spcPts val="0"/>
                        </a:spcAft>
                      </a:pPr>
                      <a:r>
                        <a:rPr lang="en-US" sz="1200">
                          <a:effectLst/>
                        </a:rPr>
                        <a:t>Whether predicted data	is displayed or not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lgn="just">
                        <a:lnSpc>
                          <a:spcPts val="1350"/>
                        </a:lnSpc>
                        <a:spcAft>
                          <a:spcPts val="0"/>
                        </a:spcAft>
                        <a:tabLst>
                          <a:tab pos="644525" algn="l"/>
                        </a:tabLst>
                      </a:pPr>
                      <a:r>
                        <a:rPr lang="en-US" sz="1200">
                          <a:effectLst/>
                        </a:rPr>
                        <a:t>If	not</a:t>
                      </a:r>
                      <a:endParaRPr lang="en-IN" sz="1100">
                        <a:effectLst/>
                      </a:endParaRPr>
                    </a:p>
                    <a:p>
                      <a:pPr marL="67310" algn="just">
                        <a:lnSpc>
                          <a:spcPts val="1350"/>
                        </a:lnSpc>
                        <a:spcAft>
                          <a:spcPts val="0"/>
                        </a:spcAft>
                        <a:tabLst>
                          <a:tab pos="644525" algn="l"/>
                        </a:tabLst>
                      </a:pPr>
                      <a:r>
                        <a:rPr lang="en-US" sz="1200">
                          <a:effectLst/>
                        </a:rPr>
                        <a:t>displayed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3500" algn="just">
                        <a:lnSpc>
                          <a:spcPct val="150000"/>
                        </a:lnSpc>
                        <a:spcAft>
                          <a:spcPts val="0"/>
                        </a:spcAft>
                        <a:tabLst>
                          <a:tab pos="551180" algn="l"/>
                        </a:tabLst>
                      </a:pPr>
                      <a:r>
                        <a:rPr lang="en-US" sz="1200">
                          <a:effectLst/>
                        </a:rPr>
                        <a:t>It	cannot view prediction containing bot		tweet</a:t>
                      </a:r>
                      <a:endParaRPr lang="en-IN" sz="1100">
                        <a:effectLst/>
                      </a:endParaRPr>
                    </a:p>
                    <a:p>
                      <a:pPr marL="66675" marR="63500" algn="just">
                        <a:lnSpc>
                          <a:spcPct val="150000"/>
                        </a:lnSpc>
                        <a:spcAft>
                          <a:spcPts val="0"/>
                        </a:spcAft>
                        <a:tabLst>
                          <a:tab pos="551180" algn="l"/>
                        </a:tabLst>
                      </a:pPr>
                      <a:r>
                        <a:rPr lang="en-US" sz="1200">
                          <a:effectLst/>
                        </a:rPr>
                        <a:t>data</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50"/>
                        </a:lnSpc>
                        <a:spcAft>
                          <a:spcPts val="0"/>
                        </a:spcAft>
                        <a:tabLst>
                          <a:tab pos="574040" algn="l"/>
                        </a:tabLst>
                      </a:pPr>
                      <a:r>
                        <a:rPr lang="en-US" sz="1200">
                          <a:effectLst/>
                        </a:rPr>
                        <a:t>It can view prediction containing bot tweet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770" algn="just">
                        <a:lnSpc>
                          <a:spcPts val="1350"/>
                        </a:lnSpc>
                        <a:spcAft>
                          <a:spcPts val="0"/>
                        </a:spcAft>
                      </a:pPr>
                      <a:r>
                        <a:rPr lang="en-US" sz="1200">
                          <a:effectLst/>
                        </a:rPr>
                        <a:t>High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135" algn="just">
                        <a:lnSpc>
                          <a:spcPts val="1350"/>
                        </a:lnSpc>
                        <a:spcAft>
                          <a:spcPts val="0"/>
                        </a:spcAft>
                      </a:pPr>
                      <a:r>
                        <a:rPr lang="en-US" sz="1200">
                          <a:effectLst/>
                        </a:rPr>
                        <a:t>High</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r h="2329781">
                <a:tc>
                  <a:txBody>
                    <a:bodyPr/>
                    <a:lstStyle/>
                    <a:p>
                      <a:pPr marL="68580" algn="just">
                        <a:lnSpc>
                          <a:spcPts val="1350"/>
                        </a:lnSpc>
                        <a:spcAft>
                          <a:spcPts val="0"/>
                        </a:spcAft>
                      </a:pPr>
                      <a:r>
                        <a:rPr lang="en-US" sz="1200">
                          <a:effectLst/>
                        </a:rPr>
                        <a:t>06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marR="80645" algn="just">
                        <a:lnSpc>
                          <a:spcPct val="150000"/>
                        </a:lnSpc>
                        <a:spcAft>
                          <a:spcPts val="0"/>
                        </a:spcAft>
                      </a:pPr>
                      <a:r>
                        <a:rPr lang="en-US" sz="1200" spc="-5" dirty="0" smtClean="0">
                          <a:effectLst/>
                        </a:rPr>
                        <a:t>Noisy </a:t>
                      </a:r>
                      <a:r>
                        <a:rPr lang="en-US" sz="1200" spc="-5" dirty="0">
                          <a:effectLst/>
                        </a:rPr>
                        <a:t>Records Chart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57785" algn="just">
                        <a:lnSpc>
                          <a:spcPct val="150000"/>
                        </a:lnSpc>
                        <a:spcAft>
                          <a:spcPts val="0"/>
                        </a:spcAft>
                      </a:pPr>
                      <a:r>
                        <a:rPr lang="en-US" sz="1200">
                          <a:effectLst/>
                        </a:rPr>
                        <a:t>Whether the graph is displayed or not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algn="just">
                        <a:lnSpc>
                          <a:spcPts val="1350"/>
                        </a:lnSpc>
                        <a:spcAft>
                          <a:spcPts val="0"/>
                        </a:spcAft>
                        <a:tabLst>
                          <a:tab pos="644525" algn="l"/>
                        </a:tabLst>
                      </a:pPr>
                      <a:r>
                        <a:rPr lang="en-US" sz="1200">
                          <a:effectLst/>
                        </a:rPr>
                        <a:t>If graph is not displayed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marR="63500" algn="just">
                        <a:lnSpc>
                          <a:spcPct val="150000"/>
                        </a:lnSpc>
                        <a:spcAft>
                          <a:spcPts val="0"/>
                        </a:spcAft>
                        <a:tabLst>
                          <a:tab pos="543560" algn="l"/>
                        </a:tabLst>
                      </a:pPr>
                      <a:r>
                        <a:rPr lang="en-US" sz="1200">
                          <a:effectLst/>
                        </a:rPr>
                        <a:t>It does not show	the variations in between clean and noisy</a:t>
                      </a:r>
                      <a:endParaRPr lang="en-IN" sz="1100">
                        <a:effectLst/>
                      </a:endParaRPr>
                    </a:p>
                    <a:p>
                      <a:pPr marL="66675" marR="63500" algn="just">
                        <a:lnSpc>
                          <a:spcPct val="150000"/>
                        </a:lnSpc>
                        <a:spcAft>
                          <a:spcPts val="0"/>
                        </a:spcAft>
                        <a:tabLst>
                          <a:tab pos="551180" algn="l"/>
                        </a:tabLst>
                      </a:pPr>
                      <a:r>
                        <a:rPr lang="en-US" sz="1200">
                          <a:effectLst/>
                        </a:rPr>
                        <a:t>records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6675" algn="just">
                        <a:lnSpc>
                          <a:spcPts val="1350"/>
                        </a:lnSpc>
                        <a:spcAft>
                          <a:spcPts val="0"/>
                        </a:spcAft>
                        <a:tabLst>
                          <a:tab pos="565785" algn="l"/>
                        </a:tabLst>
                      </a:pPr>
                      <a:r>
                        <a:rPr lang="en-US" sz="1200">
                          <a:effectLst/>
                        </a:rPr>
                        <a:t>It shows the variations in between clean	and noisy records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770" algn="just">
                        <a:lnSpc>
                          <a:spcPts val="1350"/>
                        </a:lnSpc>
                        <a:spcAft>
                          <a:spcPts val="0"/>
                        </a:spcAft>
                      </a:pPr>
                      <a:r>
                        <a:rPr lang="en-US" sz="1200">
                          <a:effectLst/>
                        </a:rPr>
                        <a:t>Low</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4135" algn="just">
                        <a:lnSpc>
                          <a:spcPts val="1350"/>
                        </a:lnSpc>
                        <a:spcAft>
                          <a:spcPts val="0"/>
                        </a:spcAft>
                      </a:pPr>
                      <a:r>
                        <a:rPr lang="en-US" sz="1200" dirty="0">
                          <a:effectLst/>
                        </a:rPr>
                        <a:t>Medium</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r>
            </a:tbl>
          </a:graphicData>
        </a:graphic>
      </p:graphicFrame>
    </p:spTree>
    <p:extLst>
      <p:ext uri="{BB962C8B-B14F-4D97-AF65-F5344CB8AC3E}">
        <p14:creationId xmlns:p14="http://schemas.microsoft.com/office/powerpoint/2010/main" val="6068326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Output Screens</a:t>
            </a:r>
            <a:br>
              <a:rPr lang="en-US" dirty="0" smtClean="0"/>
            </a:br>
            <a:r>
              <a:rPr lang="en-US" sz="1600" dirty="0" smtClean="0"/>
              <a:t/>
            </a:r>
            <a:br>
              <a:rPr lang="en-US" sz="1600" dirty="0" smtClean="0"/>
            </a:br>
            <a:r>
              <a:rPr lang="en-US" sz="2000" dirty="0" smtClean="0"/>
              <a:t>Main page</a:t>
            </a:r>
            <a:endParaRPr lang="en-IN" sz="2000" dirty="0"/>
          </a:p>
        </p:txBody>
      </p:sp>
      <p:pic>
        <p:nvPicPr>
          <p:cNvPr id="4" name="Content Placeholder 4">
            <a:extLst>
              <a:ext uri="{FF2B5EF4-FFF2-40B4-BE49-F238E27FC236}">
                <a16:creationId xmlns="" xmlns:a16="http://schemas.microsoft.com/office/drawing/2014/main" xmlns:lc="http://schemas.openxmlformats.org/drawingml/2006/lockedCanvas" id="{5CAE8A25-2D50-0FBE-B1DA-34B5DBFA1A0D}"/>
              </a:ext>
            </a:extLst>
          </p:cNvPr>
          <p:cNvPicPr>
            <a:picLocks noGrp="1" noChangeAspect="1"/>
          </p:cNvPicPr>
          <p:nvPr>
            <p:ph idx="1"/>
          </p:nvPr>
        </p:nvPicPr>
        <p:blipFill>
          <a:blip r:embed="rId2"/>
          <a:stretch>
            <a:fillRect/>
          </a:stretch>
        </p:blipFill>
        <p:spPr>
          <a:xfrm>
            <a:off x="1302829" y="2141034"/>
            <a:ext cx="6900332" cy="3544152"/>
          </a:xfrm>
          <a:prstGeom prst="rect">
            <a:avLst/>
          </a:prstGeom>
        </p:spPr>
      </p:pic>
    </p:spTree>
    <p:extLst>
      <p:ext uri="{BB962C8B-B14F-4D97-AF65-F5344CB8AC3E}">
        <p14:creationId xmlns:p14="http://schemas.microsoft.com/office/powerpoint/2010/main" val="24217337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2389" y="747058"/>
            <a:ext cx="8596668" cy="3880773"/>
          </a:xfrm>
        </p:spPr>
        <p:txBody>
          <a:bodyPr/>
          <a:lstStyle/>
          <a:p>
            <a:r>
              <a:rPr lang="en-US" dirty="0" smtClean="0"/>
              <a:t>Login Page</a:t>
            </a:r>
            <a:endParaRPr lang="en-IN"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516" y="1706137"/>
            <a:ext cx="7694072" cy="3472381"/>
          </a:xfrm>
          <a:prstGeom prst="rect">
            <a:avLst/>
          </a:prstGeom>
        </p:spPr>
      </p:pic>
    </p:spTree>
    <p:extLst>
      <p:ext uri="{BB962C8B-B14F-4D97-AF65-F5344CB8AC3E}">
        <p14:creationId xmlns:p14="http://schemas.microsoft.com/office/powerpoint/2010/main" val="2362736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7287" y="909670"/>
            <a:ext cx="7526531" cy="4474361"/>
          </a:xfrm>
        </p:spPr>
      </p:pic>
    </p:spTree>
    <p:extLst>
      <p:ext uri="{BB962C8B-B14F-4D97-AF65-F5344CB8AC3E}">
        <p14:creationId xmlns:p14="http://schemas.microsoft.com/office/powerpoint/2010/main" val="51151943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836" y="565965"/>
            <a:ext cx="8596668" cy="3880773"/>
          </a:xfrm>
        </p:spPr>
        <p:txBody>
          <a:bodyPr/>
          <a:lstStyle/>
          <a:p>
            <a:r>
              <a:rPr lang="en-US" dirty="0" smtClean="0"/>
              <a:t>Accuracy bar graph</a:t>
            </a:r>
            <a:endParaRPr lang="en-IN"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7717" y="1251838"/>
            <a:ext cx="7281747" cy="3375918"/>
          </a:xfrm>
          <a:prstGeom prst="rect">
            <a:avLst/>
          </a:prstGeom>
        </p:spPr>
      </p:pic>
    </p:spTree>
    <p:extLst>
      <p:ext uri="{BB962C8B-B14F-4D97-AF65-F5344CB8AC3E}">
        <p14:creationId xmlns:p14="http://schemas.microsoft.com/office/powerpoint/2010/main" val="13337952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510" y="2575931"/>
            <a:ext cx="8596312" cy="3396418"/>
          </a:xfrm>
        </p:spPr>
      </p:pic>
    </p:spTree>
    <p:extLst>
      <p:ext uri="{BB962C8B-B14F-4D97-AF65-F5344CB8AC3E}">
        <p14:creationId xmlns:p14="http://schemas.microsoft.com/office/powerpoint/2010/main" val="411396274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1751"/>
          </a:xfrm>
        </p:spPr>
        <p:txBody>
          <a:bodyPr>
            <a:normAutofit/>
          </a:bodyPr>
          <a:lstStyle/>
          <a:p>
            <a:r>
              <a:rPr lang="en-US" sz="2800" dirty="0" smtClean="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422559" y="1285751"/>
            <a:ext cx="910621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project successfully detects fake social media accounts using machine</a:t>
            </a:r>
          </a:p>
          <a:p>
            <a:pPr marL="0" marR="0" lvl="0" indent="0" algn="just"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learning techniques.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Algorithms like KNN, Naïve Bayes, Logistic Regression, and Ensemble methods  improve classification accuracy.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The system uses Python and Flask to build an efficient and user-friendly application.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Data preprocessing and feature extraction help in achieving better prediction results.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Overall, the system enhances security by identifying fake profiles and reducing harmful  activities on social media platforms. </a:t>
            </a:r>
          </a:p>
        </p:txBody>
      </p:sp>
    </p:spTree>
    <p:extLst>
      <p:ext uri="{BB962C8B-B14F-4D97-AF65-F5344CB8AC3E}">
        <p14:creationId xmlns:p14="http://schemas.microsoft.com/office/powerpoint/2010/main" val="50383555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864" y="532458"/>
            <a:ext cx="8596668" cy="705327"/>
          </a:xfrm>
        </p:spPr>
        <p:txBody>
          <a:bodyPr>
            <a:normAutofit/>
          </a:bodyPr>
          <a:lstStyle/>
          <a:p>
            <a:r>
              <a:rPr lang="en-US" sz="2800" dirty="0" smtClean="0">
                <a:latin typeface="Times New Roman" panose="02020603050405020304" pitchFamily="18" charset="0"/>
                <a:cs typeface="Times New Roman" panose="02020603050405020304" pitchFamily="18" charset="0"/>
              </a:rPr>
              <a:t>Future work</a:t>
            </a:r>
            <a:endParaRPr lang="en-IN" sz="2800"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idx="1"/>
          </p:nvPr>
        </p:nvSpPr>
        <p:spPr bwMode="auto">
          <a:xfrm>
            <a:off x="612501" y="1133703"/>
            <a:ext cx="8727394"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Introduce unique user identification (such as </a:t>
            </a:r>
            <a:r>
              <a:rPr kumimoji="0" lang="en-US"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Aadhaar</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linking) to ensure one</a:t>
            </a:r>
          </a:p>
          <a:p>
            <a:pPr marL="0" marR="0" lvl="0" indent="0" algn="just" defTabSz="914400" rtl="0" eaLnBrk="0" fontAlgn="base" latinLnBrk="0" hangingPunct="0">
              <a:lnSpc>
                <a:spcPct val="150000"/>
              </a:lnSpc>
              <a:spcBef>
                <a:spcPct val="0"/>
              </a:spcBef>
              <a:spcAft>
                <a:spcPct val="0"/>
              </a:spcAft>
              <a:buClrTx/>
              <a:buSzTx/>
              <a:buNone/>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account per user and reduce fake profiles.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Improve the system accuracy by applying advanced machine learning and deep learning  </a:t>
            </a:r>
            <a:r>
              <a:rPr kumimoji="0" lang="en-US" b="0" i="0" u="none" strike="noStrike" cap="none" normalizeH="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techniques.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Extend the system to work across multiple social media platforms for wider detection.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Implement real-time detection to identify fake accounts instantly and improve system </a:t>
            </a:r>
            <a:r>
              <a:rPr lang="en-US" dirty="0">
                <a:solidFill>
                  <a:schemeClr val="tx1"/>
                </a:solidFill>
                <a:latin typeface="Times New Roman" panose="02020603050405020304" pitchFamily="18" charset="0"/>
                <a:cs typeface="Times New Roman" panose="02020603050405020304" pitchFamily="18" charset="0"/>
              </a:rPr>
              <a:t> </a:t>
            </a:r>
            <a:r>
              <a:rPr lang="en-US" dirty="0" smtClean="0">
                <a:solidFill>
                  <a:schemeClr val="tx1"/>
                </a:solidFill>
                <a:latin typeface="Times New Roman" panose="02020603050405020304" pitchFamily="18" charset="0"/>
                <a:cs typeface="Times New Roman" panose="02020603050405020304" pitchFamily="18" charset="0"/>
              </a:rPr>
              <a:t>  </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efficiency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65411832"/>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728</TotalTime>
  <Words>1628</Words>
  <Application>Microsoft Office PowerPoint</Application>
  <PresentationFormat>Widescreen</PresentationFormat>
  <Paragraphs>315</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Microsoft YaHei</vt:lpstr>
      <vt:lpstr>Arial</vt:lpstr>
      <vt:lpstr>Times New Roman</vt:lpstr>
      <vt:lpstr>Trebuchet MS</vt:lpstr>
      <vt:lpstr>Wingdings 3</vt:lpstr>
      <vt:lpstr>Facet</vt:lpstr>
      <vt:lpstr>PowerPoint Presentation</vt:lpstr>
      <vt:lpstr>Contents</vt:lpstr>
      <vt:lpstr>Contents(Contd..)</vt:lpstr>
      <vt:lpstr>Abstract</vt:lpstr>
      <vt:lpstr>Existing System</vt:lpstr>
      <vt:lpstr>Drawbacks in the Existing System</vt:lpstr>
      <vt:lpstr>Proposed System</vt:lpstr>
      <vt:lpstr>Advantages of the proposed system</vt:lpstr>
      <vt:lpstr>Module Description</vt:lpstr>
      <vt:lpstr>PowerPoint Presentation</vt:lpstr>
      <vt:lpstr>Software Requirements</vt:lpstr>
      <vt:lpstr>Hardware requirements</vt:lpstr>
      <vt:lpstr>Algorithms used in the project</vt:lpstr>
      <vt:lpstr>PowerPoint Presentation</vt:lpstr>
      <vt:lpstr>PowerPoint Presentation</vt:lpstr>
      <vt:lpstr>PowerPoint Presentation</vt:lpstr>
      <vt:lpstr>About the Software</vt:lpstr>
      <vt:lpstr>PowerPoint Presentation</vt:lpstr>
      <vt:lpstr>Design of the Project</vt:lpstr>
      <vt:lpstr>System Architecture</vt:lpstr>
      <vt:lpstr>Use Case diagram</vt:lpstr>
      <vt:lpstr>Class diagram</vt:lpstr>
      <vt:lpstr>Sequence diagram</vt:lpstr>
      <vt:lpstr>Activity diagram</vt:lpstr>
      <vt:lpstr>Component diagram</vt:lpstr>
      <vt:lpstr>Deployment diagram</vt:lpstr>
      <vt:lpstr>Implementation Details</vt:lpstr>
      <vt:lpstr>PowerPoint Presentation</vt:lpstr>
      <vt:lpstr>Sample code</vt:lpstr>
      <vt:lpstr>PowerPoint Presentation</vt:lpstr>
      <vt:lpstr>PowerPoint Presentation</vt:lpstr>
      <vt:lpstr>PowerPoint Presentation</vt:lpstr>
      <vt:lpstr>Testing Stratagies used</vt:lpstr>
      <vt:lpstr>PowerPoint Presentation</vt:lpstr>
      <vt:lpstr>Test cases</vt:lpstr>
      <vt:lpstr>PowerPoint Presentation</vt:lpstr>
      <vt:lpstr>PowerPoint Presentation</vt:lpstr>
      <vt:lpstr>Output Screens  Main page</vt:lpstr>
      <vt:lpstr>PowerPoint Presentation</vt:lpstr>
      <vt:lpstr>PowerPoint Presentation</vt:lpstr>
      <vt:lpstr>PowerPoint Presentation</vt:lpstr>
      <vt:lpstr>PowerPoint Presentation</vt:lpstr>
      <vt:lpstr>Conclusion</vt:lpstr>
      <vt:lpstr>Future work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HP</cp:lastModifiedBy>
  <cp:revision>77</cp:revision>
  <dcterms:created xsi:type="dcterms:W3CDTF">2025-07-23T00:59:00Z</dcterms:created>
  <dcterms:modified xsi:type="dcterms:W3CDTF">2026-04-24T12:44:53Z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F9540A1B69F4413B84427394DEED38A8_13</vt:lpwstr>
  </property>
  <property fmtid="{D5CDD505-2E9C-101B-9397-08002B2CF9AE}" pid="3" name="KSOProductBuildVer">
    <vt:lpwstr>1033-12.1.0.25242</vt:lpwstr>
  </property>
</Properties>
</file>